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1F1EF"/>
        </a:solidFill>
      </p:bgPr>
    </p:bg>
    <p:spTree>
      <p:nvGrpSpPr>
        <p:cNvPr id="1" name=""/>
        <p:cNvGrpSpPr/>
        <p:nvPr/>
      </p:nvGrpSpPr>
      <p:grpSpPr>
        <a:xfrm>
          <a:off x="0" y="0"/>
          <a:ext cx="0" cy="0"/>
          <a:chOff x="0" y="0"/>
          <a:chExt cx="0" cy="0"/>
        </a:xfrm>
      </p:grpSpPr>
      <p:sp>
        <p:nvSpPr>
          <p:cNvPr id="2" name="Shape 0"/>
          <p:cNvSpPr/>
          <p:nvPr/>
        </p:nvSpPr>
        <p:spPr>
          <a:xfrm>
            <a:off x="0" y="0"/>
            <a:ext cx="12191695" cy="932688"/>
          </a:xfrm>
          <a:prstGeom prst="rect">
            <a:avLst/>
          </a:prstGeom>
          <a:solidFill>
            <a:srgbClr val="232D4B"/>
          </a:solidFill>
          <a:ln/>
        </p:spPr>
      </p:sp>
      <p:sp>
        <p:nvSpPr>
          <p:cNvPr id="3" name="Text 1"/>
          <p:cNvSpPr/>
          <p:nvPr/>
        </p:nvSpPr>
        <p:spPr>
          <a:xfrm>
            <a:off x="411480" y="100584"/>
            <a:ext cx="8778240" cy="201168"/>
          </a:xfrm>
          <a:prstGeom prst="rect">
            <a:avLst/>
          </a:prstGeom>
          <a:noFill/>
          <a:ln/>
        </p:spPr>
        <p:txBody>
          <a:bodyPr wrap="square" lIns="0" tIns="0" rIns="0" bIns="0" rtlCol="0" anchor="ctr"/>
          <a:lstStyle/>
          <a:p>
            <a:pPr indent="0" marL="0">
              <a:buNone/>
            </a:pPr>
            <a:r>
              <a:rPr lang="en-US" sz="1000" b="1" spc="100" kern="0" dirty="0">
                <a:solidFill>
                  <a:srgbClr val="E57200"/>
                </a:solidFill>
                <a:latin typeface="Calibri" pitchFamily="34" charset="0"/>
                <a:ea typeface="Calibri" pitchFamily="34" charset="-122"/>
                <a:cs typeface="Calibri" pitchFamily="34" charset="-120"/>
              </a:rPr>
              <a:t>CORPORATE &amp; FOUNDATION RELATIONS   •   STANDARD OPERATING PROCEDURE</a:t>
            </a:r>
            <a:endParaRPr lang="en-US" sz="1000" dirty="0"/>
          </a:p>
        </p:txBody>
      </p:sp>
      <p:sp>
        <p:nvSpPr>
          <p:cNvPr id="4" name="Text 2"/>
          <p:cNvSpPr/>
          <p:nvPr/>
        </p:nvSpPr>
        <p:spPr>
          <a:xfrm>
            <a:off x="411480" y="292608"/>
            <a:ext cx="9006840" cy="402336"/>
          </a:xfrm>
          <a:prstGeom prst="rect">
            <a:avLst/>
          </a:prstGeom>
          <a:noFill/>
          <a:ln/>
        </p:spPr>
        <p:txBody>
          <a:bodyPr wrap="square" lIns="0" tIns="0" rIns="0" bIns="0" rtlCol="0" anchor="t"/>
          <a:lstStyle/>
          <a:p>
            <a:pPr indent="0" marL="0">
              <a:buNone/>
            </a:pPr>
            <a:r>
              <a:rPr lang="en-US" sz="2100" b="1" dirty="0">
                <a:solidFill>
                  <a:srgbClr val="FFFFFF"/>
                </a:solidFill>
                <a:latin typeface="Cambria" pitchFamily="34" charset="0"/>
                <a:ea typeface="Cambria" pitchFamily="34" charset="-122"/>
                <a:cs typeface="Cambria" pitchFamily="34" charset="-120"/>
              </a:rPr>
              <a:t>Complex Industry-Supported Research Gift Workflow</a:t>
            </a:r>
            <a:endParaRPr lang="en-US" sz="2100" dirty="0"/>
          </a:p>
        </p:txBody>
      </p:sp>
      <p:sp>
        <p:nvSpPr>
          <p:cNvPr id="5" name="Text 3"/>
          <p:cNvSpPr/>
          <p:nvPr/>
        </p:nvSpPr>
        <p:spPr>
          <a:xfrm>
            <a:off x="411480" y="722376"/>
            <a:ext cx="9006840" cy="182880"/>
          </a:xfrm>
          <a:prstGeom prst="rect">
            <a:avLst/>
          </a:prstGeom>
          <a:noFill/>
          <a:ln/>
        </p:spPr>
        <p:txBody>
          <a:bodyPr wrap="square" lIns="0" tIns="0" rIns="0" bIns="0" rtlCol="0" anchor="ctr"/>
          <a:lstStyle/>
          <a:p>
            <a:pPr indent="0" marL="0">
              <a:buNone/>
            </a:pPr>
            <a:r>
              <a:rPr lang="en-US" sz="900" i="1" dirty="0">
                <a:solidFill>
                  <a:srgbClr val="B7C0D6"/>
                </a:solidFill>
                <a:latin typeface="Calibri" pitchFamily="34" charset="0"/>
                <a:ea typeface="Calibri" pitchFamily="34" charset="-122"/>
                <a:cs typeface="Calibri" pitchFamily="34" charset="-120"/>
              </a:rPr>
              <a:t>An 11-stage decision framework for evaluating, structuring, and stewarding industry-funded research gifts — informed by the PBM Capital gift</a:t>
            </a:r>
            <a:endParaRPr lang="en-US" sz="900" dirty="0"/>
          </a:p>
        </p:txBody>
      </p:sp>
      <p:sp>
        <p:nvSpPr>
          <p:cNvPr id="6" name="Text 4"/>
          <p:cNvSpPr/>
          <p:nvPr/>
        </p:nvSpPr>
        <p:spPr>
          <a:xfrm>
            <a:off x="9464040" y="256032"/>
            <a:ext cx="2331720" cy="457200"/>
          </a:xfrm>
          <a:prstGeom prst="rect">
            <a:avLst/>
          </a:prstGeom>
          <a:noFill/>
          <a:ln/>
        </p:spPr>
        <p:txBody>
          <a:bodyPr wrap="square" lIns="0" tIns="0" rIns="0" bIns="0" rtlCol="0" anchor="ctr"/>
          <a:lstStyle/>
          <a:p>
            <a:pPr algn="r" indent="0" marL="0">
              <a:lnSpc>
                <a:spcPct val="120000"/>
              </a:lnSpc>
              <a:buNone/>
            </a:pPr>
            <a:r>
              <a:rPr lang="en-US" sz="950" b="1" dirty="0">
                <a:solidFill>
                  <a:srgbClr val="E57200"/>
                </a:solidFill>
                <a:latin typeface="Calibri" pitchFamily="34" charset="0"/>
                <a:ea typeface="Calibri" pitchFamily="34" charset="-122"/>
                <a:cs typeface="Calibri" pitchFamily="34" charset="-120"/>
              </a:rPr>
              <a:t>v0.2 — Draft for Review</a:t>
            </a:r>
            <a:endParaRPr lang="en-US" sz="950" dirty="0"/>
          </a:p>
          <a:p>
            <a:pPr algn="r" indent="0" marL="0">
              <a:lnSpc>
                <a:spcPct val="120000"/>
              </a:lnSpc>
              <a:buNone/>
            </a:pPr>
            <a:r>
              <a:rPr lang="en-US" sz="850" dirty="0">
                <a:solidFill>
                  <a:srgbClr val="B7C0D6"/>
                </a:solidFill>
                <a:latin typeface="Calibri" pitchFamily="34" charset="0"/>
                <a:ea typeface="Calibri" pitchFamily="34" charset="-122"/>
                <a:cs typeface="Calibri" pitchFamily="34" charset="-120"/>
              </a:rPr>
              <a:t>UVA Development — CFR</a:t>
            </a:r>
            <a:endParaRPr lang="en-US" sz="950" dirty="0"/>
          </a:p>
        </p:txBody>
      </p:sp>
      <p:sp>
        <p:nvSpPr>
          <p:cNvPr id="7" name="Text 5"/>
          <p:cNvSpPr/>
          <p:nvPr/>
        </p:nvSpPr>
        <p:spPr>
          <a:xfrm>
            <a:off x="411480" y="1005840"/>
            <a:ext cx="7315200" cy="182880"/>
          </a:xfrm>
          <a:prstGeom prst="rect">
            <a:avLst/>
          </a:prstGeom>
          <a:noFill/>
          <a:ln/>
        </p:spPr>
        <p:txBody>
          <a:bodyPr wrap="square" lIns="0" tIns="0" rIns="0" bIns="0" rtlCol="0" anchor="ctr"/>
          <a:lstStyle/>
          <a:p>
            <a:pPr indent="0" marL="0">
              <a:buNone/>
            </a:pPr>
            <a:r>
              <a:rPr lang="en-US" sz="1050" b="1" spc="60" kern="0" dirty="0">
                <a:solidFill>
                  <a:srgbClr val="232D4B"/>
                </a:solidFill>
                <a:latin typeface="Calibri" pitchFamily="34" charset="0"/>
                <a:ea typeface="Calibri" pitchFamily="34" charset="-122"/>
                <a:cs typeface="Calibri" pitchFamily="34" charset="-120"/>
              </a:rPr>
              <a:t>PROCESS FLOW — ELEVEN STAGES, TWO DECISION GATES</a:t>
            </a:r>
            <a:endParaRPr lang="en-US" sz="1050" dirty="0"/>
          </a:p>
        </p:txBody>
      </p:sp>
      <p:sp>
        <p:nvSpPr>
          <p:cNvPr id="8" name="Shape 6"/>
          <p:cNvSpPr/>
          <p:nvPr/>
        </p:nvSpPr>
        <p:spPr>
          <a:xfrm>
            <a:off x="411480" y="1261872"/>
            <a:ext cx="1810969" cy="731520"/>
          </a:xfrm>
          <a:prstGeom prst="roundRect">
            <a:avLst>
              <a:gd name="adj" fmla="val 7500"/>
            </a:avLst>
          </a:prstGeom>
          <a:solidFill>
            <a:srgbClr val="FFFFFF"/>
          </a:solidFill>
          <a:ln w="12700">
            <a:solidFill>
              <a:srgbClr val="DADADA"/>
            </a:solidFill>
            <a:prstDash val="solid"/>
          </a:ln>
        </p:spPr>
      </p:sp>
      <p:sp>
        <p:nvSpPr>
          <p:cNvPr id="9" name="Text 7"/>
          <p:cNvSpPr/>
          <p:nvPr/>
        </p:nvSpPr>
        <p:spPr>
          <a:xfrm>
            <a:off x="493776" y="1325880"/>
            <a:ext cx="1646377" cy="603504"/>
          </a:xfrm>
          <a:prstGeom prst="rect">
            <a:avLst/>
          </a:prstGeom>
          <a:noFill/>
          <a:ln/>
        </p:spPr>
        <p:txBody>
          <a:bodyPr wrap="square" lIns="0" tIns="0" rIns="0" bIns="0" rtlCol="0" anchor="t"/>
          <a:lstStyle/>
          <a:p>
            <a:pPr indent="0" marL="0">
              <a:lnSpc>
                <a:spcPct val="110000"/>
              </a:lnSpc>
              <a:buNone/>
            </a:pPr>
            <a:r>
              <a:rPr lang="en-US" sz="850" b="1" dirty="0">
                <a:solidFill>
                  <a:srgbClr val="E57200"/>
                </a:solidFill>
                <a:latin typeface="Calibri" pitchFamily="34" charset="0"/>
                <a:ea typeface="Calibri" pitchFamily="34" charset="-122"/>
                <a:cs typeface="Calibri" pitchFamily="34" charset="-120"/>
              </a:rPr>
              <a:t>01   </a:t>
            </a:r>
            <a:pPr indent="0" marL="0">
              <a:lnSpc>
                <a:spcPct val="110000"/>
              </a:lnSpc>
              <a:buNone/>
            </a:pPr>
            <a:r>
              <a:rPr lang="en-US" sz="950" b="1" dirty="0">
                <a:solidFill>
                  <a:srgbClr val="232D4B"/>
                </a:solidFill>
                <a:latin typeface="Calibri" pitchFamily="34" charset="0"/>
                <a:ea typeface="Calibri" pitchFamily="34" charset="-122"/>
                <a:cs typeface="Calibri" pitchFamily="34" charset="-120"/>
              </a:rPr>
              <a:t>Discovery</a:t>
            </a:r>
            <a:endParaRPr lang="en-US" sz="850" dirty="0"/>
          </a:p>
          <a:p>
            <a:pPr indent="0" marL="0">
              <a:lnSpc>
                <a:spcPct val="110000"/>
              </a:lnSpc>
              <a:buNone/>
            </a:pPr>
            <a:r>
              <a:rPr lang="en-US" sz="730" i="1" dirty="0">
                <a:solidFill>
                  <a:srgbClr val="5A6472"/>
                </a:solidFill>
                <a:latin typeface="Calibri" pitchFamily="34" charset="0"/>
                <a:ea typeface="Calibri" pitchFamily="34" charset="-122"/>
                <a:cs typeface="Calibri" pitchFamily="34" charset="-120"/>
              </a:rPr>
              <a:t>Understand donor intent</a:t>
            </a:r>
            <a:endParaRPr lang="en-US" sz="850" dirty="0"/>
          </a:p>
        </p:txBody>
      </p:sp>
      <p:sp>
        <p:nvSpPr>
          <p:cNvPr id="10" name="Shape 8"/>
          <p:cNvSpPr/>
          <p:nvPr/>
        </p:nvSpPr>
        <p:spPr>
          <a:xfrm>
            <a:off x="2323033" y="1261872"/>
            <a:ext cx="1810969" cy="731520"/>
          </a:xfrm>
          <a:prstGeom prst="roundRect">
            <a:avLst>
              <a:gd name="adj" fmla="val 7500"/>
            </a:avLst>
          </a:prstGeom>
          <a:solidFill>
            <a:srgbClr val="E57200"/>
          </a:solidFill>
          <a:ln w="12700">
            <a:solidFill>
              <a:srgbClr val="CC6600"/>
            </a:solidFill>
            <a:prstDash val="solid"/>
          </a:ln>
        </p:spPr>
      </p:sp>
      <p:sp>
        <p:nvSpPr>
          <p:cNvPr id="11" name="Text 9"/>
          <p:cNvSpPr/>
          <p:nvPr/>
        </p:nvSpPr>
        <p:spPr>
          <a:xfrm>
            <a:off x="2405329" y="1325880"/>
            <a:ext cx="1646377" cy="603504"/>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Calibri" pitchFamily="34" charset="0"/>
                <a:ea typeface="Calibri" pitchFamily="34" charset="-122"/>
                <a:cs typeface="Calibri" pitchFamily="34" charset="-120"/>
              </a:rPr>
              <a:t>02   </a:t>
            </a:r>
            <a:pPr indent="0" marL="0">
              <a:lnSpc>
                <a:spcPct val="110000"/>
              </a:lnSpc>
              <a:buNone/>
            </a:pPr>
            <a:r>
              <a:rPr lang="en-US" sz="950" b="1" dirty="0">
                <a:solidFill>
                  <a:srgbClr val="FFFFFF"/>
                </a:solidFill>
                <a:latin typeface="Calibri" pitchFamily="34" charset="0"/>
                <a:ea typeface="Calibri" pitchFamily="34" charset="-122"/>
                <a:cs typeface="Calibri" pitchFamily="34" charset="-120"/>
              </a:rPr>
              <a:t>Funding Pathway</a:t>
            </a:r>
            <a:endParaRPr lang="en-US" sz="850" dirty="0"/>
          </a:p>
          <a:p>
            <a:pPr indent="0" marL="0">
              <a:lnSpc>
                <a:spcPct val="110000"/>
              </a:lnSpc>
              <a:buNone/>
            </a:pPr>
            <a:r>
              <a:rPr lang="en-US" sz="730" i="1" dirty="0">
                <a:solidFill>
                  <a:srgbClr val="FFF1E0"/>
                </a:solidFill>
                <a:latin typeface="Calibri" pitchFamily="34" charset="0"/>
                <a:ea typeface="Calibri" pitchFamily="34" charset="-122"/>
                <a:cs typeface="Calibri" pitchFamily="34" charset="-120"/>
              </a:rPr>
              <a:t>Gift · Grant · Contract</a:t>
            </a:r>
            <a:endParaRPr lang="en-US" sz="850" dirty="0"/>
          </a:p>
        </p:txBody>
      </p:sp>
      <p:sp>
        <p:nvSpPr>
          <p:cNvPr id="12" name="Shape 10"/>
          <p:cNvSpPr/>
          <p:nvPr/>
        </p:nvSpPr>
        <p:spPr>
          <a:xfrm>
            <a:off x="4234586" y="1261872"/>
            <a:ext cx="1810969" cy="731520"/>
          </a:xfrm>
          <a:prstGeom prst="roundRect">
            <a:avLst>
              <a:gd name="adj" fmla="val 7500"/>
            </a:avLst>
          </a:prstGeom>
          <a:solidFill>
            <a:srgbClr val="FFFFFF"/>
          </a:solidFill>
          <a:ln w="12700">
            <a:solidFill>
              <a:srgbClr val="DADADA"/>
            </a:solidFill>
            <a:prstDash val="solid"/>
          </a:ln>
        </p:spPr>
      </p:sp>
      <p:sp>
        <p:nvSpPr>
          <p:cNvPr id="13" name="Text 11"/>
          <p:cNvSpPr/>
          <p:nvPr/>
        </p:nvSpPr>
        <p:spPr>
          <a:xfrm>
            <a:off x="4316882" y="1325880"/>
            <a:ext cx="1646377" cy="603504"/>
          </a:xfrm>
          <a:prstGeom prst="rect">
            <a:avLst/>
          </a:prstGeom>
          <a:noFill/>
          <a:ln/>
        </p:spPr>
        <p:txBody>
          <a:bodyPr wrap="square" lIns="0" tIns="0" rIns="0" bIns="0" rtlCol="0" anchor="t"/>
          <a:lstStyle/>
          <a:p>
            <a:pPr indent="0" marL="0">
              <a:lnSpc>
                <a:spcPct val="110000"/>
              </a:lnSpc>
              <a:buNone/>
            </a:pPr>
            <a:r>
              <a:rPr lang="en-US" sz="850" b="1" dirty="0">
                <a:solidFill>
                  <a:srgbClr val="E57200"/>
                </a:solidFill>
                <a:latin typeface="Calibri" pitchFamily="34" charset="0"/>
                <a:ea typeface="Calibri" pitchFamily="34" charset="-122"/>
                <a:cs typeface="Calibri" pitchFamily="34" charset="-120"/>
              </a:rPr>
              <a:t>03   </a:t>
            </a:r>
            <a:pPr indent="0" marL="0">
              <a:lnSpc>
                <a:spcPct val="110000"/>
              </a:lnSpc>
              <a:buNone/>
            </a:pPr>
            <a:r>
              <a:rPr lang="en-US" sz="950" b="1" dirty="0">
                <a:solidFill>
                  <a:srgbClr val="232D4B"/>
                </a:solidFill>
                <a:latin typeface="Calibri" pitchFamily="34" charset="0"/>
                <a:ea typeface="Calibri" pitchFamily="34" charset="-122"/>
                <a:cs typeface="Calibri" pitchFamily="34" charset="-120"/>
              </a:rPr>
              <a:t>Stakeholder Map</a:t>
            </a:r>
            <a:endParaRPr lang="en-US" sz="850" dirty="0"/>
          </a:p>
          <a:p>
            <a:pPr indent="0" marL="0">
              <a:lnSpc>
                <a:spcPct val="110000"/>
              </a:lnSpc>
              <a:buNone/>
            </a:pPr>
            <a:r>
              <a:rPr lang="en-US" sz="730" i="1" dirty="0">
                <a:solidFill>
                  <a:srgbClr val="5A6472"/>
                </a:solidFill>
                <a:latin typeface="Calibri" pitchFamily="34" charset="0"/>
                <a:ea typeface="Calibri" pitchFamily="34" charset="-122"/>
                <a:cs typeface="Calibri" pitchFamily="34" charset="-120"/>
              </a:rPr>
              <a:t>Assemble the team</a:t>
            </a:r>
            <a:endParaRPr lang="en-US" sz="850" dirty="0"/>
          </a:p>
        </p:txBody>
      </p:sp>
      <p:sp>
        <p:nvSpPr>
          <p:cNvPr id="14" name="Shape 12"/>
          <p:cNvSpPr/>
          <p:nvPr/>
        </p:nvSpPr>
        <p:spPr>
          <a:xfrm>
            <a:off x="6146140" y="1261872"/>
            <a:ext cx="1810969" cy="731520"/>
          </a:xfrm>
          <a:prstGeom prst="roundRect">
            <a:avLst>
              <a:gd name="adj" fmla="val 7500"/>
            </a:avLst>
          </a:prstGeom>
          <a:solidFill>
            <a:srgbClr val="E57200"/>
          </a:solidFill>
          <a:ln w="12700">
            <a:solidFill>
              <a:srgbClr val="CC6600"/>
            </a:solidFill>
            <a:prstDash val="solid"/>
          </a:ln>
        </p:spPr>
      </p:sp>
      <p:sp>
        <p:nvSpPr>
          <p:cNvPr id="15" name="Text 13"/>
          <p:cNvSpPr/>
          <p:nvPr/>
        </p:nvSpPr>
        <p:spPr>
          <a:xfrm>
            <a:off x="6228436" y="1325880"/>
            <a:ext cx="1646377" cy="603504"/>
          </a:xfrm>
          <a:prstGeom prst="rect">
            <a:avLst/>
          </a:prstGeom>
          <a:noFill/>
          <a:ln/>
        </p:spPr>
        <p:txBody>
          <a:bodyPr wrap="square" lIns="0" tIns="0" rIns="0" bIns="0" rtlCol="0" anchor="t"/>
          <a:lstStyle/>
          <a:p>
            <a:pPr indent="0" marL="0">
              <a:lnSpc>
                <a:spcPct val="110000"/>
              </a:lnSpc>
              <a:buNone/>
            </a:pPr>
            <a:r>
              <a:rPr lang="en-US" sz="850" b="1" dirty="0">
                <a:solidFill>
                  <a:srgbClr val="FFFFFF"/>
                </a:solidFill>
                <a:latin typeface="Calibri" pitchFamily="34" charset="0"/>
                <a:ea typeface="Calibri" pitchFamily="34" charset="-122"/>
                <a:cs typeface="Calibri" pitchFamily="34" charset="-120"/>
              </a:rPr>
              <a:t>04   </a:t>
            </a:r>
            <a:pPr indent="0" marL="0">
              <a:lnSpc>
                <a:spcPct val="110000"/>
              </a:lnSpc>
              <a:buNone/>
            </a:pPr>
            <a:r>
              <a:rPr lang="en-US" sz="950" b="1" dirty="0">
                <a:solidFill>
                  <a:srgbClr val="FFFFFF"/>
                </a:solidFill>
                <a:latin typeface="Calibri" pitchFamily="34" charset="0"/>
                <a:ea typeface="Calibri" pitchFamily="34" charset="-122"/>
                <a:cs typeface="Calibri" pitchFamily="34" charset="-120"/>
              </a:rPr>
              <a:t>Complexity Check</a:t>
            </a:r>
            <a:endParaRPr lang="en-US" sz="850" dirty="0"/>
          </a:p>
          <a:p>
            <a:pPr indent="0" marL="0">
              <a:lnSpc>
                <a:spcPct val="110000"/>
              </a:lnSpc>
              <a:buNone/>
            </a:pPr>
            <a:r>
              <a:rPr lang="en-US" sz="730" i="1" dirty="0">
                <a:solidFill>
                  <a:srgbClr val="FFF1E0"/>
                </a:solidFill>
                <a:latin typeface="Calibri" pitchFamily="34" charset="0"/>
                <a:ea typeface="Calibri" pitchFamily="34" charset="-122"/>
                <a:cs typeface="Calibri" pitchFamily="34" charset="-120"/>
              </a:rPr>
              <a:t>Escalate if triggered</a:t>
            </a:r>
            <a:endParaRPr lang="en-US" sz="850" dirty="0"/>
          </a:p>
        </p:txBody>
      </p:sp>
      <p:sp>
        <p:nvSpPr>
          <p:cNvPr id="16" name="Shape 14"/>
          <p:cNvSpPr/>
          <p:nvPr/>
        </p:nvSpPr>
        <p:spPr>
          <a:xfrm>
            <a:off x="8057693" y="1261872"/>
            <a:ext cx="1810969" cy="731520"/>
          </a:xfrm>
          <a:prstGeom prst="roundRect">
            <a:avLst>
              <a:gd name="adj" fmla="val 7500"/>
            </a:avLst>
          </a:prstGeom>
          <a:solidFill>
            <a:srgbClr val="FFFFFF"/>
          </a:solidFill>
          <a:ln w="12700">
            <a:solidFill>
              <a:srgbClr val="DADADA"/>
            </a:solidFill>
            <a:prstDash val="solid"/>
          </a:ln>
        </p:spPr>
      </p:sp>
      <p:sp>
        <p:nvSpPr>
          <p:cNvPr id="17" name="Text 15"/>
          <p:cNvSpPr/>
          <p:nvPr/>
        </p:nvSpPr>
        <p:spPr>
          <a:xfrm>
            <a:off x="8139989" y="1325880"/>
            <a:ext cx="1646377" cy="603504"/>
          </a:xfrm>
          <a:prstGeom prst="rect">
            <a:avLst/>
          </a:prstGeom>
          <a:noFill/>
          <a:ln/>
        </p:spPr>
        <p:txBody>
          <a:bodyPr wrap="square" lIns="0" tIns="0" rIns="0" bIns="0" rtlCol="0" anchor="t"/>
          <a:lstStyle/>
          <a:p>
            <a:pPr indent="0" marL="0">
              <a:lnSpc>
                <a:spcPct val="110000"/>
              </a:lnSpc>
              <a:buNone/>
            </a:pPr>
            <a:r>
              <a:rPr lang="en-US" sz="850" b="1" dirty="0">
                <a:solidFill>
                  <a:srgbClr val="E57200"/>
                </a:solidFill>
                <a:latin typeface="Calibri" pitchFamily="34" charset="0"/>
                <a:ea typeface="Calibri" pitchFamily="34" charset="-122"/>
                <a:cs typeface="Calibri" pitchFamily="34" charset="-120"/>
              </a:rPr>
              <a:t>05   </a:t>
            </a:r>
            <a:pPr indent="0" marL="0">
              <a:lnSpc>
                <a:spcPct val="110000"/>
              </a:lnSpc>
              <a:buNone/>
            </a:pPr>
            <a:r>
              <a:rPr lang="en-US" sz="950" b="1" dirty="0">
                <a:solidFill>
                  <a:srgbClr val="232D4B"/>
                </a:solidFill>
                <a:latin typeface="Calibri" pitchFamily="34" charset="0"/>
                <a:ea typeface="Calibri" pitchFamily="34" charset="-122"/>
                <a:cs typeface="Calibri" pitchFamily="34" charset="-120"/>
              </a:rPr>
              <a:t>Compliance Review</a:t>
            </a:r>
            <a:endParaRPr lang="en-US" sz="850" dirty="0"/>
          </a:p>
          <a:p>
            <a:pPr indent="0" marL="0">
              <a:lnSpc>
                <a:spcPct val="110000"/>
              </a:lnSpc>
              <a:buNone/>
            </a:pPr>
            <a:r>
              <a:rPr lang="en-US" sz="730" i="1" dirty="0">
                <a:solidFill>
                  <a:srgbClr val="5A6472"/>
                </a:solidFill>
                <a:latin typeface="Calibri" pitchFamily="34" charset="0"/>
                <a:ea typeface="Calibri" pitchFamily="34" charset="-122"/>
                <a:cs typeface="Calibri" pitchFamily="34" charset="-120"/>
              </a:rPr>
              <a:t>Protect independence</a:t>
            </a:r>
            <a:endParaRPr lang="en-US" sz="850" dirty="0"/>
          </a:p>
        </p:txBody>
      </p:sp>
      <p:sp>
        <p:nvSpPr>
          <p:cNvPr id="18" name="Shape 16"/>
          <p:cNvSpPr/>
          <p:nvPr/>
        </p:nvSpPr>
        <p:spPr>
          <a:xfrm>
            <a:off x="9969246" y="1261872"/>
            <a:ext cx="1810969" cy="731520"/>
          </a:xfrm>
          <a:prstGeom prst="roundRect">
            <a:avLst>
              <a:gd name="adj" fmla="val 7500"/>
            </a:avLst>
          </a:prstGeom>
          <a:solidFill>
            <a:srgbClr val="FFFFFF"/>
          </a:solidFill>
          <a:ln w="12700">
            <a:solidFill>
              <a:srgbClr val="DADADA"/>
            </a:solidFill>
            <a:prstDash val="solid"/>
          </a:ln>
        </p:spPr>
      </p:sp>
      <p:sp>
        <p:nvSpPr>
          <p:cNvPr id="19" name="Text 17"/>
          <p:cNvSpPr/>
          <p:nvPr/>
        </p:nvSpPr>
        <p:spPr>
          <a:xfrm>
            <a:off x="10051542" y="1325880"/>
            <a:ext cx="1646377" cy="603504"/>
          </a:xfrm>
          <a:prstGeom prst="rect">
            <a:avLst/>
          </a:prstGeom>
          <a:noFill/>
          <a:ln/>
        </p:spPr>
        <p:txBody>
          <a:bodyPr wrap="square" lIns="0" tIns="0" rIns="0" bIns="0" rtlCol="0" anchor="t"/>
          <a:lstStyle/>
          <a:p>
            <a:pPr indent="0" marL="0">
              <a:lnSpc>
                <a:spcPct val="110000"/>
              </a:lnSpc>
              <a:buNone/>
            </a:pPr>
            <a:r>
              <a:rPr lang="en-US" sz="850" b="1" dirty="0">
                <a:solidFill>
                  <a:srgbClr val="E57200"/>
                </a:solidFill>
                <a:latin typeface="Calibri" pitchFamily="34" charset="0"/>
                <a:ea typeface="Calibri" pitchFamily="34" charset="-122"/>
                <a:cs typeface="Calibri" pitchFamily="34" charset="-120"/>
              </a:rPr>
              <a:t>06   </a:t>
            </a:r>
            <a:pPr indent="0" marL="0">
              <a:lnSpc>
                <a:spcPct val="110000"/>
              </a:lnSpc>
              <a:buNone/>
            </a:pPr>
            <a:r>
              <a:rPr lang="en-US" sz="950" b="1" dirty="0">
                <a:solidFill>
                  <a:srgbClr val="232D4B"/>
                </a:solidFill>
                <a:latin typeface="Calibri" pitchFamily="34" charset="0"/>
                <a:ea typeface="Calibri" pitchFamily="34" charset="-122"/>
                <a:cs typeface="Calibri" pitchFamily="34" charset="-120"/>
              </a:rPr>
              <a:t>Documentation</a:t>
            </a:r>
            <a:endParaRPr lang="en-US" sz="850" dirty="0"/>
          </a:p>
          <a:p>
            <a:pPr indent="0" marL="0">
              <a:lnSpc>
                <a:spcPct val="110000"/>
              </a:lnSpc>
              <a:buNone/>
            </a:pPr>
            <a:r>
              <a:rPr lang="en-US" sz="730" i="1" dirty="0">
                <a:solidFill>
                  <a:srgbClr val="5A6472"/>
                </a:solidFill>
                <a:latin typeface="Calibri" pitchFamily="34" charset="0"/>
                <a:ea typeface="Calibri" pitchFamily="34" charset="-122"/>
                <a:cs typeface="Calibri" pitchFamily="34" charset="-120"/>
              </a:rPr>
              <a:t>Gift Agmt · SOW · COI</a:t>
            </a:r>
            <a:endParaRPr lang="en-US" sz="850" dirty="0"/>
          </a:p>
        </p:txBody>
      </p:sp>
      <p:sp>
        <p:nvSpPr>
          <p:cNvPr id="20" name="Shape 18"/>
          <p:cNvSpPr/>
          <p:nvPr/>
        </p:nvSpPr>
        <p:spPr>
          <a:xfrm>
            <a:off x="2323033" y="2139696"/>
            <a:ext cx="1810969" cy="731520"/>
          </a:xfrm>
          <a:prstGeom prst="roundRect">
            <a:avLst>
              <a:gd name="adj" fmla="val 7500"/>
            </a:avLst>
          </a:prstGeom>
          <a:solidFill>
            <a:srgbClr val="FFFFFF"/>
          </a:solidFill>
          <a:ln w="12700">
            <a:solidFill>
              <a:srgbClr val="DADADA"/>
            </a:solidFill>
            <a:prstDash val="solid"/>
          </a:ln>
        </p:spPr>
      </p:sp>
      <p:sp>
        <p:nvSpPr>
          <p:cNvPr id="21" name="Text 19"/>
          <p:cNvSpPr/>
          <p:nvPr/>
        </p:nvSpPr>
        <p:spPr>
          <a:xfrm>
            <a:off x="2405329" y="2203704"/>
            <a:ext cx="1646377" cy="603504"/>
          </a:xfrm>
          <a:prstGeom prst="rect">
            <a:avLst/>
          </a:prstGeom>
          <a:noFill/>
          <a:ln/>
        </p:spPr>
        <p:txBody>
          <a:bodyPr wrap="square" lIns="0" tIns="0" rIns="0" bIns="0" rtlCol="0" anchor="t"/>
          <a:lstStyle/>
          <a:p>
            <a:pPr indent="0" marL="0">
              <a:lnSpc>
                <a:spcPct val="110000"/>
              </a:lnSpc>
              <a:buNone/>
            </a:pPr>
            <a:r>
              <a:rPr lang="en-US" sz="850" b="1" dirty="0">
                <a:solidFill>
                  <a:srgbClr val="E57200"/>
                </a:solidFill>
                <a:latin typeface="Calibri" pitchFamily="34" charset="0"/>
                <a:ea typeface="Calibri" pitchFamily="34" charset="-122"/>
                <a:cs typeface="Calibri" pitchFamily="34" charset="-120"/>
              </a:rPr>
              <a:t>07   </a:t>
            </a:r>
            <a:pPr indent="0" marL="0">
              <a:lnSpc>
                <a:spcPct val="110000"/>
              </a:lnSpc>
              <a:buNone/>
            </a:pPr>
            <a:r>
              <a:rPr lang="en-US" sz="950" b="1" dirty="0">
                <a:solidFill>
                  <a:srgbClr val="232D4B"/>
                </a:solidFill>
                <a:latin typeface="Calibri" pitchFamily="34" charset="0"/>
                <a:ea typeface="Calibri" pitchFamily="34" charset="-122"/>
                <a:cs typeface="Calibri" pitchFamily="34" charset="-120"/>
              </a:rPr>
              <a:t>Financial Review</a:t>
            </a:r>
            <a:endParaRPr lang="en-US" sz="850" dirty="0"/>
          </a:p>
          <a:p>
            <a:pPr indent="0" marL="0">
              <a:lnSpc>
                <a:spcPct val="110000"/>
              </a:lnSpc>
              <a:buNone/>
            </a:pPr>
            <a:r>
              <a:rPr lang="en-US" sz="730" i="1" dirty="0">
                <a:solidFill>
                  <a:srgbClr val="5A6472"/>
                </a:solidFill>
                <a:latin typeface="Calibri" pitchFamily="34" charset="0"/>
                <a:ea typeface="Calibri" pitchFamily="34" charset="-122"/>
                <a:cs typeface="Calibri" pitchFamily="34" charset="-120"/>
              </a:rPr>
              <a:t>Fees · F&amp;A · budget</a:t>
            </a:r>
            <a:endParaRPr lang="en-US" sz="850" dirty="0"/>
          </a:p>
        </p:txBody>
      </p:sp>
      <p:sp>
        <p:nvSpPr>
          <p:cNvPr id="22" name="Shape 20"/>
          <p:cNvSpPr/>
          <p:nvPr/>
        </p:nvSpPr>
        <p:spPr>
          <a:xfrm>
            <a:off x="4234586" y="2139696"/>
            <a:ext cx="1810969" cy="731520"/>
          </a:xfrm>
          <a:prstGeom prst="roundRect">
            <a:avLst>
              <a:gd name="adj" fmla="val 7500"/>
            </a:avLst>
          </a:prstGeom>
          <a:solidFill>
            <a:srgbClr val="FFFFFF"/>
          </a:solidFill>
          <a:ln w="12700">
            <a:solidFill>
              <a:srgbClr val="DADADA"/>
            </a:solidFill>
            <a:prstDash val="solid"/>
          </a:ln>
        </p:spPr>
      </p:sp>
      <p:sp>
        <p:nvSpPr>
          <p:cNvPr id="23" name="Text 21"/>
          <p:cNvSpPr/>
          <p:nvPr/>
        </p:nvSpPr>
        <p:spPr>
          <a:xfrm>
            <a:off x="4316882" y="2203704"/>
            <a:ext cx="1646377" cy="603504"/>
          </a:xfrm>
          <a:prstGeom prst="rect">
            <a:avLst/>
          </a:prstGeom>
          <a:noFill/>
          <a:ln/>
        </p:spPr>
        <p:txBody>
          <a:bodyPr wrap="square" lIns="0" tIns="0" rIns="0" bIns="0" rtlCol="0" anchor="t"/>
          <a:lstStyle/>
          <a:p>
            <a:pPr indent="0" marL="0">
              <a:lnSpc>
                <a:spcPct val="110000"/>
              </a:lnSpc>
              <a:buNone/>
            </a:pPr>
            <a:r>
              <a:rPr lang="en-US" sz="850" b="1" dirty="0">
                <a:solidFill>
                  <a:srgbClr val="E57200"/>
                </a:solidFill>
                <a:latin typeface="Calibri" pitchFamily="34" charset="0"/>
                <a:ea typeface="Calibri" pitchFamily="34" charset="-122"/>
                <a:cs typeface="Calibri" pitchFamily="34" charset="-120"/>
              </a:rPr>
              <a:t>08   </a:t>
            </a:r>
            <a:pPr indent="0" marL="0">
              <a:lnSpc>
                <a:spcPct val="110000"/>
              </a:lnSpc>
              <a:buNone/>
            </a:pPr>
            <a:r>
              <a:rPr lang="en-US" sz="950" b="1" dirty="0">
                <a:solidFill>
                  <a:srgbClr val="232D4B"/>
                </a:solidFill>
                <a:latin typeface="Calibri" pitchFamily="34" charset="0"/>
                <a:ea typeface="Calibri" pitchFamily="34" charset="-122"/>
                <a:cs typeface="Calibri" pitchFamily="34" charset="-120"/>
              </a:rPr>
              <a:t>Multi-Institution</a:t>
            </a:r>
            <a:endParaRPr lang="en-US" sz="850" dirty="0"/>
          </a:p>
          <a:p>
            <a:pPr indent="0" marL="0">
              <a:lnSpc>
                <a:spcPct val="110000"/>
              </a:lnSpc>
              <a:buNone/>
            </a:pPr>
            <a:r>
              <a:rPr lang="en-US" sz="730" i="1" dirty="0">
                <a:solidFill>
                  <a:srgbClr val="5A6472"/>
                </a:solidFill>
                <a:latin typeface="Calibri" pitchFamily="34" charset="0"/>
                <a:ea typeface="Calibri" pitchFamily="34" charset="-122"/>
                <a:cs typeface="Calibri" pitchFamily="34" charset="-120"/>
              </a:rPr>
              <a:t>Coordinate partners</a:t>
            </a:r>
            <a:endParaRPr lang="en-US" sz="850" dirty="0"/>
          </a:p>
        </p:txBody>
      </p:sp>
      <p:sp>
        <p:nvSpPr>
          <p:cNvPr id="24" name="Shape 22"/>
          <p:cNvSpPr/>
          <p:nvPr/>
        </p:nvSpPr>
        <p:spPr>
          <a:xfrm>
            <a:off x="6146140" y="2139696"/>
            <a:ext cx="1810969" cy="731520"/>
          </a:xfrm>
          <a:prstGeom prst="roundRect">
            <a:avLst>
              <a:gd name="adj" fmla="val 7500"/>
            </a:avLst>
          </a:prstGeom>
          <a:solidFill>
            <a:srgbClr val="FFFFFF"/>
          </a:solidFill>
          <a:ln w="12700">
            <a:solidFill>
              <a:srgbClr val="DADADA"/>
            </a:solidFill>
            <a:prstDash val="solid"/>
          </a:ln>
        </p:spPr>
      </p:sp>
      <p:sp>
        <p:nvSpPr>
          <p:cNvPr id="25" name="Text 23"/>
          <p:cNvSpPr/>
          <p:nvPr/>
        </p:nvSpPr>
        <p:spPr>
          <a:xfrm>
            <a:off x="6228436" y="2203704"/>
            <a:ext cx="1646377" cy="603504"/>
          </a:xfrm>
          <a:prstGeom prst="rect">
            <a:avLst/>
          </a:prstGeom>
          <a:noFill/>
          <a:ln/>
        </p:spPr>
        <p:txBody>
          <a:bodyPr wrap="square" lIns="0" tIns="0" rIns="0" bIns="0" rtlCol="0" anchor="t"/>
          <a:lstStyle/>
          <a:p>
            <a:pPr indent="0" marL="0">
              <a:lnSpc>
                <a:spcPct val="110000"/>
              </a:lnSpc>
              <a:buNone/>
            </a:pPr>
            <a:r>
              <a:rPr lang="en-US" sz="850" b="1" dirty="0">
                <a:solidFill>
                  <a:srgbClr val="E57200"/>
                </a:solidFill>
                <a:latin typeface="Calibri" pitchFamily="34" charset="0"/>
                <a:ea typeface="Calibri" pitchFamily="34" charset="-122"/>
                <a:cs typeface="Calibri" pitchFamily="34" charset="-120"/>
              </a:rPr>
              <a:t>09   </a:t>
            </a:r>
            <a:pPr indent="0" marL="0">
              <a:lnSpc>
                <a:spcPct val="110000"/>
              </a:lnSpc>
              <a:buNone/>
            </a:pPr>
            <a:r>
              <a:rPr lang="en-US" sz="950" b="1" dirty="0">
                <a:solidFill>
                  <a:srgbClr val="232D4B"/>
                </a:solidFill>
                <a:latin typeface="Calibri" pitchFamily="34" charset="0"/>
                <a:ea typeface="Calibri" pitchFamily="34" charset="-122"/>
                <a:cs typeface="Calibri" pitchFamily="34" charset="-120"/>
              </a:rPr>
              <a:t>Accounting &amp; Credit</a:t>
            </a:r>
            <a:endParaRPr lang="en-US" sz="850" dirty="0"/>
          </a:p>
          <a:p>
            <a:pPr indent="0" marL="0">
              <a:lnSpc>
                <a:spcPct val="110000"/>
              </a:lnSpc>
              <a:buNone/>
            </a:pPr>
            <a:r>
              <a:rPr lang="en-US" sz="730" i="1" dirty="0">
                <a:solidFill>
                  <a:srgbClr val="5A6472"/>
                </a:solidFill>
                <a:latin typeface="Calibri" pitchFamily="34" charset="0"/>
                <a:ea typeface="Calibri" pitchFamily="34" charset="-122"/>
                <a:cs typeface="Calibri" pitchFamily="34" charset="-120"/>
              </a:rPr>
              <a:t>Hard · soft · CRM</a:t>
            </a:r>
            <a:endParaRPr lang="en-US" sz="850" dirty="0"/>
          </a:p>
        </p:txBody>
      </p:sp>
      <p:sp>
        <p:nvSpPr>
          <p:cNvPr id="26" name="Shape 24"/>
          <p:cNvSpPr/>
          <p:nvPr/>
        </p:nvSpPr>
        <p:spPr>
          <a:xfrm>
            <a:off x="8057693" y="2139696"/>
            <a:ext cx="1810969" cy="731520"/>
          </a:xfrm>
          <a:prstGeom prst="roundRect">
            <a:avLst>
              <a:gd name="adj" fmla="val 7500"/>
            </a:avLst>
          </a:prstGeom>
          <a:solidFill>
            <a:srgbClr val="FFFFFF"/>
          </a:solidFill>
          <a:ln w="12700">
            <a:solidFill>
              <a:srgbClr val="DADADA"/>
            </a:solidFill>
            <a:prstDash val="solid"/>
          </a:ln>
        </p:spPr>
      </p:sp>
      <p:sp>
        <p:nvSpPr>
          <p:cNvPr id="27" name="Text 25"/>
          <p:cNvSpPr/>
          <p:nvPr/>
        </p:nvSpPr>
        <p:spPr>
          <a:xfrm>
            <a:off x="8139989" y="2203704"/>
            <a:ext cx="1646377" cy="603504"/>
          </a:xfrm>
          <a:prstGeom prst="rect">
            <a:avLst/>
          </a:prstGeom>
          <a:noFill/>
          <a:ln/>
        </p:spPr>
        <p:txBody>
          <a:bodyPr wrap="square" lIns="0" tIns="0" rIns="0" bIns="0" rtlCol="0" anchor="t"/>
          <a:lstStyle/>
          <a:p>
            <a:pPr indent="0" marL="0">
              <a:lnSpc>
                <a:spcPct val="110000"/>
              </a:lnSpc>
              <a:buNone/>
            </a:pPr>
            <a:r>
              <a:rPr lang="en-US" sz="850" b="1" dirty="0">
                <a:solidFill>
                  <a:srgbClr val="E57200"/>
                </a:solidFill>
                <a:latin typeface="Calibri" pitchFamily="34" charset="0"/>
                <a:ea typeface="Calibri" pitchFamily="34" charset="-122"/>
                <a:cs typeface="Calibri" pitchFamily="34" charset="-120"/>
              </a:rPr>
              <a:t>10   </a:t>
            </a:r>
            <a:pPr indent="0" marL="0">
              <a:lnSpc>
                <a:spcPct val="110000"/>
              </a:lnSpc>
              <a:buNone/>
            </a:pPr>
            <a:r>
              <a:rPr lang="en-US" sz="950" b="1" dirty="0">
                <a:solidFill>
                  <a:srgbClr val="232D4B"/>
                </a:solidFill>
                <a:latin typeface="Calibri" pitchFamily="34" charset="0"/>
                <a:ea typeface="Calibri" pitchFamily="34" charset="-122"/>
                <a:cs typeface="Calibri" pitchFamily="34" charset="-120"/>
              </a:rPr>
              <a:t>Stewardship</a:t>
            </a:r>
            <a:endParaRPr lang="en-US" sz="850" dirty="0"/>
          </a:p>
          <a:p>
            <a:pPr indent="0" marL="0">
              <a:lnSpc>
                <a:spcPct val="110000"/>
              </a:lnSpc>
              <a:buNone/>
            </a:pPr>
            <a:r>
              <a:rPr lang="en-US" sz="730" i="1" dirty="0">
                <a:solidFill>
                  <a:srgbClr val="5A6472"/>
                </a:solidFill>
                <a:latin typeface="Calibri" pitchFamily="34" charset="0"/>
                <a:ea typeface="Calibri" pitchFamily="34" charset="-122"/>
                <a:cs typeface="Calibri" pitchFamily="34" charset="-120"/>
              </a:rPr>
              <a:t>Not reporting</a:t>
            </a:r>
            <a:endParaRPr lang="en-US" sz="850" dirty="0"/>
          </a:p>
        </p:txBody>
      </p:sp>
      <p:sp>
        <p:nvSpPr>
          <p:cNvPr id="28" name="Shape 26"/>
          <p:cNvSpPr/>
          <p:nvPr/>
        </p:nvSpPr>
        <p:spPr>
          <a:xfrm>
            <a:off x="9969246" y="2139696"/>
            <a:ext cx="1810969" cy="731520"/>
          </a:xfrm>
          <a:prstGeom prst="roundRect">
            <a:avLst>
              <a:gd name="adj" fmla="val 7500"/>
            </a:avLst>
          </a:prstGeom>
          <a:solidFill>
            <a:srgbClr val="FFFFFF"/>
          </a:solidFill>
          <a:ln w="12700">
            <a:solidFill>
              <a:srgbClr val="DADADA"/>
            </a:solidFill>
            <a:prstDash val="solid"/>
          </a:ln>
        </p:spPr>
      </p:sp>
      <p:sp>
        <p:nvSpPr>
          <p:cNvPr id="29" name="Text 27"/>
          <p:cNvSpPr/>
          <p:nvPr/>
        </p:nvSpPr>
        <p:spPr>
          <a:xfrm>
            <a:off x="10051542" y="2203704"/>
            <a:ext cx="1646377" cy="603504"/>
          </a:xfrm>
          <a:prstGeom prst="rect">
            <a:avLst/>
          </a:prstGeom>
          <a:noFill/>
          <a:ln/>
        </p:spPr>
        <p:txBody>
          <a:bodyPr wrap="square" lIns="0" tIns="0" rIns="0" bIns="0" rtlCol="0" anchor="t"/>
          <a:lstStyle/>
          <a:p>
            <a:pPr indent="0" marL="0">
              <a:lnSpc>
                <a:spcPct val="110000"/>
              </a:lnSpc>
              <a:buNone/>
            </a:pPr>
            <a:r>
              <a:rPr lang="en-US" sz="850" b="1" dirty="0">
                <a:solidFill>
                  <a:srgbClr val="E57200"/>
                </a:solidFill>
                <a:latin typeface="Calibri" pitchFamily="34" charset="0"/>
                <a:ea typeface="Calibri" pitchFamily="34" charset="-122"/>
                <a:cs typeface="Calibri" pitchFamily="34" charset="-120"/>
              </a:rPr>
              <a:t>11   </a:t>
            </a:r>
            <a:pPr indent="0" marL="0">
              <a:lnSpc>
                <a:spcPct val="110000"/>
              </a:lnSpc>
              <a:buNone/>
            </a:pPr>
            <a:r>
              <a:rPr lang="en-US" sz="950" b="1" dirty="0">
                <a:solidFill>
                  <a:srgbClr val="232D4B"/>
                </a:solidFill>
                <a:latin typeface="Calibri" pitchFamily="34" charset="0"/>
                <a:ea typeface="Calibri" pitchFamily="34" charset="-122"/>
                <a:cs typeface="Calibri" pitchFamily="34" charset="-120"/>
              </a:rPr>
              <a:t>Relationship Growth</a:t>
            </a:r>
            <a:endParaRPr lang="en-US" sz="850" dirty="0"/>
          </a:p>
          <a:p>
            <a:pPr indent="0" marL="0">
              <a:lnSpc>
                <a:spcPct val="110000"/>
              </a:lnSpc>
              <a:buNone/>
            </a:pPr>
            <a:r>
              <a:rPr lang="en-US" sz="730" i="1" dirty="0">
                <a:solidFill>
                  <a:srgbClr val="5A6472"/>
                </a:solidFill>
                <a:latin typeface="Calibri" pitchFamily="34" charset="0"/>
                <a:ea typeface="Calibri" pitchFamily="34" charset="-122"/>
                <a:cs typeface="Calibri" pitchFamily="34" charset="-120"/>
              </a:rPr>
              <a:t>Next opportunity</a:t>
            </a:r>
            <a:endParaRPr lang="en-US" sz="850" dirty="0"/>
          </a:p>
        </p:txBody>
      </p:sp>
      <p:sp>
        <p:nvSpPr>
          <p:cNvPr id="30" name="Text 28"/>
          <p:cNvSpPr/>
          <p:nvPr/>
        </p:nvSpPr>
        <p:spPr>
          <a:xfrm>
            <a:off x="411480" y="1060704"/>
            <a:ext cx="914400" cy="164592"/>
          </a:xfrm>
          <a:prstGeom prst="rect">
            <a:avLst/>
          </a:prstGeom>
          <a:noFill/>
          <a:ln/>
        </p:spPr>
        <p:txBody>
          <a:bodyPr wrap="square" lIns="0" tIns="0" rIns="0" bIns="0" rtlCol="0" anchor="ctr"/>
          <a:lstStyle/>
          <a:p>
            <a:pPr indent="0" marL="0">
              <a:buNone/>
            </a:pPr>
            <a:r>
              <a:rPr lang="en-US" sz="750" b="1" spc="80" kern="0" dirty="0">
                <a:solidFill>
                  <a:srgbClr val="8492A6"/>
                </a:solidFill>
                <a:latin typeface="Calibri" pitchFamily="34" charset="0"/>
                <a:ea typeface="Calibri" pitchFamily="34" charset="-122"/>
                <a:cs typeface="Calibri" pitchFamily="34" charset="-120"/>
              </a:rPr>
              <a:t>START</a:t>
            </a:r>
            <a:endParaRPr lang="en-US" sz="750" dirty="0"/>
          </a:p>
        </p:txBody>
      </p:sp>
      <p:sp>
        <p:nvSpPr>
          <p:cNvPr id="31" name="Shape 29"/>
          <p:cNvSpPr/>
          <p:nvPr/>
        </p:nvSpPr>
        <p:spPr>
          <a:xfrm>
            <a:off x="1957273" y="2432304"/>
            <a:ext cx="256032" cy="146304"/>
          </a:xfrm>
          <a:prstGeom prst="leftArrow">
            <a:avLst/>
          </a:prstGeom>
          <a:solidFill>
            <a:srgbClr val="8492A6"/>
          </a:solidFill>
          <a:ln/>
        </p:spPr>
      </p:sp>
      <p:sp>
        <p:nvSpPr>
          <p:cNvPr id="32" name="Text 30"/>
          <p:cNvSpPr/>
          <p:nvPr/>
        </p:nvSpPr>
        <p:spPr>
          <a:xfrm>
            <a:off x="411480" y="3127248"/>
            <a:ext cx="3655466" cy="182880"/>
          </a:xfrm>
          <a:prstGeom prst="rect">
            <a:avLst/>
          </a:prstGeom>
          <a:noFill/>
          <a:ln/>
        </p:spPr>
        <p:txBody>
          <a:bodyPr wrap="square" lIns="0" tIns="0" rIns="0" bIns="0" rtlCol="0" anchor="ctr"/>
          <a:lstStyle/>
          <a:p>
            <a:pPr indent="0" marL="0">
              <a:buNone/>
            </a:pPr>
            <a:r>
              <a:rPr lang="en-US" sz="1000" b="1" spc="40" kern="0" dirty="0">
                <a:solidFill>
                  <a:srgbClr val="232D4B"/>
                </a:solidFill>
                <a:latin typeface="Calibri" pitchFamily="34" charset="0"/>
                <a:ea typeface="Calibri" pitchFamily="34" charset="-122"/>
                <a:cs typeface="Calibri" pitchFamily="34" charset="-120"/>
              </a:rPr>
              <a:t>DECISION GATE — CHOOSE THE FUNDING VEHICLE</a:t>
            </a:r>
            <a:endParaRPr lang="en-US" sz="10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11480" y="3374136"/>
          <a:ext cx="3655466" cy="914400"/>
        </p:xfrm>
        <a:graphic>
          <a:graphicData uri="http://schemas.openxmlformats.org/drawingml/2006/table">
            <a:tbl>
              <a:tblPr/>
              <a:tblGrid>
                <a:gridCol w="1680362"/>
                <a:gridCol w="658368"/>
                <a:gridCol w="658368"/>
                <a:gridCol w="658368"/>
              </a:tblGrid>
              <a:tr h="219456">
                <a:tc>
                  <a:txBody>
                    <a:bodyPr/>
                    <a:lstStyle/>
                    <a:p>
                      <a:pPr indent="0" marL="0">
                        <a:buNone/>
                      </a:pPr>
                      <a:r>
                        <a:rPr lang="en-US" sz="800" b="1" dirty="0">
                          <a:solidFill>
                            <a:srgbClr val="FFFFFF"/>
                          </a:solidFill>
                        </a:rPr>
                        <a:t>Criterion</a:t>
                      </a:r>
                      <a:endParaRPr lang="en-US" sz="80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232D4B"/>
                    </a:solidFill>
                  </a:tcPr>
                </a:tc>
                <a:tc>
                  <a:txBody>
                    <a:bodyPr/>
                    <a:lstStyle/>
                    <a:p>
                      <a:pPr algn="ctr" indent="0" marL="0">
                        <a:buNone/>
                      </a:pPr>
                      <a:r>
                        <a:rPr lang="en-US" sz="800" b="1" dirty="0">
                          <a:solidFill>
                            <a:srgbClr val="FFFFFF"/>
                          </a:solidFill>
                        </a:rPr>
                        <a:t>Gift</a:t>
                      </a:r>
                      <a:endParaRPr lang="en-US" sz="80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232D4B"/>
                    </a:solidFill>
                  </a:tcPr>
                </a:tc>
                <a:tc>
                  <a:txBody>
                    <a:bodyPr/>
                    <a:lstStyle/>
                    <a:p>
                      <a:pPr algn="ctr" indent="0" marL="0">
                        <a:buNone/>
                      </a:pPr>
                      <a:r>
                        <a:rPr lang="en-US" sz="800" b="1" dirty="0">
                          <a:solidFill>
                            <a:srgbClr val="FFFFFF"/>
                          </a:solidFill>
                        </a:rPr>
                        <a:t>Sponsored</a:t>
                      </a:r>
                      <a:endParaRPr lang="en-US" sz="80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232D4B"/>
                    </a:solidFill>
                  </a:tcPr>
                </a:tc>
                <a:tc>
                  <a:txBody>
                    <a:bodyPr/>
                    <a:lstStyle/>
                    <a:p>
                      <a:pPr algn="ctr" indent="0" marL="0">
                        <a:buNone/>
                      </a:pPr>
                      <a:r>
                        <a:rPr lang="en-US" sz="800" b="1" dirty="0">
                          <a:solidFill>
                            <a:srgbClr val="FFFFFF"/>
                          </a:solidFill>
                        </a:rPr>
                        <a:t>Contract</a:t>
                      </a:r>
                      <a:endParaRPr lang="en-US" sz="80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232D4B"/>
                    </a:solidFill>
                  </a:tcPr>
                </a:tc>
              </a:tr>
              <a:tr h="205740">
                <a:tc>
                  <a:txBody>
                    <a:bodyPr/>
                    <a:lstStyle/>
                    <a:p>
                      <a:pPr indent="0" marL="0">
                        <a:buNone/>
                      </a:pPr>
                      <a:r>
                        <a:rPr lang="en-US" sz="780" dirty="0">
                          <a:solidFill>
                            <a:srgbClr val="232D4B"/>
                          </a:solidFill>
                        </a:rPr>
                        <a:t>Unrestricted support</a:t>
                      </a:r>
                      <a:endParaRPr lang="en-US" sz="78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62BB46"/>
                          </a:solidFill>
                        </a:rPr>
                        <a:t>✓</a:t>
                      </a:r>
                      <a:endParaRPr lang="en-US" sz="95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FFFFF"/>
                    </a:solidFill>
                  </a:tcPr>
                </a:tc>
                <a:tc>
                  <a:txBody>
                    <a:bodyPr/>
                    <a:lstStyle/>
                    <a:p>
                      <a:pPr algn="ctr" indent="0" marL="0">
                        <a:buNone/>
                      </a:pPr>
                      <a:endParaRPr lang="en-US" sz="95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FFFFF"/>
                    </a:solidFill>
                  </a:tcPr>
                </a:tc>
                <a:tc>
                  <a:txBody>
                    <a:bodyPr/>
                    <a:lstStyle/>
                    <a:p>
                      <a:pPr algn="ctr" indent="0" marL="0">
                        <a:buNone/>
                      </a:pPr>
                      <a:endParaRPr lang="en-US" sz="95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FFFFF"/>
                    </a:solidFill>
                  </a:tcPr>
                </a:tc>
              </a:tr>
              <a:tr h="205740">
                <a:tc>
                  <a:txBody>
                    <a:bodyPr/>
                    <a:lstStyle/>
                    <a:p>
                      <a:pPr indent="0" marL="0">
                        <a:buNone/>
                      </a:pPr>
                      <a:r>
                        <a:rPr lang="en-US" sz="780" dirty="0">
                          <a:solidFill>
                            <a:srgbClr val="232D4B"/>
                          </a:solidFill>
                        </a:rPr>
                        <a:t>Specific deliverables</a:t>
                      </a:r>
                      <a:endParaRPr lang="en-US" sz="78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7F7F5"/>
                    </a:solidFill>
                  </a:tcPr>
                </a:tc>
                <a:tc>
                  <a:txBody>
                    <a:bodyPr/>
                    <a:lstStyle/>
                    <a:p>
                      <a:pPr algn="ctr" indent="0" marL="0">
                        <a:buNone/>
                      </a:pPr>
                      <a:endParaRPr lang="en-US" sz="95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7F7F5"/>
                    </a:solidFill>
                  </a:tcPr>
                </a:tc>
                <a:tc>
                  <a:txBody>
                    <a:bodyPr/>
                    <a:lstStyle/>
                    <a:p>
                      <a:pPr algn="ctr" indent="0" marL="0">
                        <a:buNone/>
                      </a:pPr>
                      <a:r>
                        <a:rPr lang="en-US" sz="950" b="1" dirty="0">
                          <a:solidFill>
                            <a:srgbClr val="009FDF"/>
                          </a:solidFill>
                        </a:rPr>
                        <a:t>✓</a:t>
                      </a:r>
                      <a:endParaRPr lang="en-US" sz="95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7F7F5"/>
                    </a:solidFill>
                  </a:tcPr>
                </a:tc>
                <a:tc>
                  <a:txBody>
                    <a:bodyPr/>
                    <a:lstStyle/>
                    <a:p>
                      <a:pPr algn="ctr" indent="0" marL="0">
                        <a:buNone/>
                      </a:pPr>
                      <a:r>
                        <a:rPr lang="en-US" sz="950" b="1" dirty="0">
                          <a:solidFill>
                            <a:srgbClr val="EF3F6B"/>
                          </a:solidFill>
                        </a:rPr>
                        <a:t>✓</a:t>
                      </a:r>
                      <a:endParaRPr lang="en-US" sz="95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7F7F5"/>
                    </a:solidFill>
                  </a:tcPr>
                </a:tc>
              </a:tr>
              <a:tr h="205740">
                <a:tc>
                  <a:txBody>
                    <a:bodyPr/>
                    <a:lstStyle/>
                    <a:p>
                      <a:pPr indent="0" marL="0">
                        <a:buNone/>
                      </a:pPr>
                      <a:r>
                        <a:rPr lang="en-US" sz="780" dirty="0">
                          <a:solidFill>
                            <a:srgbClr val="232D4B"/>
                          </a:solidFill>
                        </a:rPr>
                        <a:t>Publication restrictions</a:t>
                      </a:r>
                      <a:endParaRPr lang="en-US" sz="78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FFFFF"/>
                    </a:solidFill>
                  </a:tcPr>
                </a:tc>
                <a:tc>
                  <a:txBody>
                    <a:bodyPr/>
                    <a:lstStyle/>
                    <a:p>
                      <a:pPr algn="ctr" indent="0" marL="0">
                        <a:buNone/>
                      </a:pPr>
                      <a:endParaRPr lang="en-US" sz="95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009FDF"/>
                          </a:solidFill>
                        </a:rPr>
                        <a:t>✓</a:t>
                      </a:r>
                      <a:endParaRPr lang="en-US" sz="95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EF3F6B"/>
                          </a:solidFill>
                        </a:rPr>
                        <a:t>✓</a:t>
                      </a:r>
                      <a:endParaRPr lang="en-US" sz="95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FFFFF"/>
                    </a:solidFill>
                  </a:tcPr>
                </a:tc>
              </a:tr>
              <a:tr h="205740">
                <a:tc>
                  <a:txBody>
                    <a:bodyPr/>
                    <a:lstStyle/>
                    <a:p>
                      <a:pPr indent="0" marL="0">
                        <a:buNone/>
                      </a:pPr>
                      <a:r>
                        <a:rPr lang="en-US" sz="780" dirty="0">
                          <a:solidFill>
                            <a:srgbClr val="232D4B"/>
                          </a:solidFill>
                        </a:rPr>
                        <a:t>IP expectations</a:t>
                      </a:r>
                      <a:endParaRPr lang="en-US" sz="78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7F7F5"/>
                    </a:solidFill>
                  </a:tcPr>
                </a:tc>
                <a:tc>
                  <a:txBody>
                    <a:bodyPr/>
                    <a:lstStyle/>
                    <a:p>
                      <a:pPr algn="ctr" indent="0" marL="0">
                        <a:buNone/>
                      </a:pPr>
                      <a:endParaRPr lang="en-US" sz="95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7F7F5"/>
                    </a:solidFill>
                  </a:tcPr>
                </a:tc>
                <a:tc>
                  <a:txBody>
                    <a:bodyPr/>
                    <a:lstStyle/>
                    <a:p>
                      <a:pPr algn="ctr" indent="0" marL="0">
                        <a:buNone/>
                      </a:pPr>
                      <a:r>
                        <a:rPr lang="en-US" sz="950" b="1" dirty="0">
                          <a:solidFill>
                            <a:srgbClr val="009FDF"/>
                          </a:solidFill>
                        </a:rPr>
                        <a:t>✓</a:t>
                      </a:r>
                      <a:endParaRPr lang="en-US" sz="95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7F7F5"/>
                    </a:solidFill>
                  </a:tcPr>
                </a:tc>
                <a:tc>
                  <a:txBody>
                    <a:bodyPr/>
                    <a:lstStyle/>
                    <a:p>
                      <a:pPr algn="ctr" indent="0" marL="0">
                        <a:buNone/>
                      </a:pPr>
                      <a:r>
                        <a:rPr lang="en-US" sz="950" b="1" dirty="0">
                          <a:solidFill>
                            <a:srgbClr val="EF3F6B"/>
                          </a:solidFill>
                        </a:rPr>
                        <a:t>✓</a:t>
                      </a:r>
                      <a:endParaRPr lang="en-US" sz="95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7F7F5"/>
                    </a:solidFill>
                  </a:tcPr>
                </a:tc>
              </a:tr>
              <a:tr h="205740">
                <a:tc>
                  <a:txBody>
                    <a:bodyPr/>
                    <a:lstStyle/>
                    <a:p>
                      <a:pPr indent="0" marL="0">
                        <a:buNone/>
                      </a:pPr>
                      <a:r>
                        <a:rPr lang="en-US" sz="780" dirty="0">
                          <a:solidFill>
                            <a:srgbClr val="232D4B"/>
                          </a:solidFill>
                        </a:rPr>
                        <a:t>Donor directs research</a:t>
                      </a:r>
                      <a:endParaRPr lang="en-US" sz="78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FFFFF"/>
                    </a:solidFill>
                  </a:tcPr>
                </a:tc>
                <a:tc>
                  <a:txBody>
                    <a:bodyPr/>
                    <a:lstStyle/>
                    <a:p>
                      <a:pPr algn="ctr" indent="0" marL="0">
                        <a:buNone/>
                      </a:pPr>
                      <a:endParaRPr lang="en-US" sz="95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009FDF"/>
                          </a:solidFill>
                        </a:rPr>
                        <a:t>✓</a:t>
                      </a:r>
                      <a:endParaRPr lang="en-US" sz="95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EF3F6B"/>
                          </a:solidFill>
                        </a:rPr>
                        <a:t>✓</a:t>
                      </a:r>
                      <a:endParaRPr lang="en-US" sz="95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FFFFF"/>
                    </a:solidFill>
                  </a:tcPr>
                </a:tc>
              </a:tr>
              <a:tr h="205740">
                <a:tc>
                  <a:txBody>
                    <a:bodyPr/>
                    <a:lstStyle/>
                    <a:p>
                      <a:pPr indent="0" marL="0">
                        <a:buNone/>
                      </a:pPr>
                      <a:r>
                        <a:rPr lang="en-US" sz="780" dirty="0">
                          <a:solidFill>
                            <a:srgbClr val="232D4B"/>
                          </a:solidFill>
                        </a:rPr>
                        <a:t>General stewardship only</a:t>
                      </a:r>
                      <a:endParaRPr lang="en-US" sz="78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7F7F5"/>
                    </a:solidFill>
                  </a:tcPr>
                </a:tc>
                <a:tc>
                  <a:txBody>
                    <a:bodyPr/>
                    <a:lstStyle/>
                    <a:p>
                      <a:pPr algn="ctr" indent="0" marL="0">
                        <a:buNone/>
                      </a:pPr>
                      <a:r>
                        <a:rPr lang="en-US" sz="950" b="1" dirty="0">
                          <a:solidFill>
                            <a:srgbClr val="62BB46"/>
                          </a:solidFill>
                        </a:rPr>
                        <a:t>✓</a:t>
                      </a:r>
                      <a:endParaRPr lang="en-US" sz="95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7F7F5"/>
                    </a:solidFill>
                  </a:tcPr>
                </a:tc>
                <a:tc>
                  <a:txBody>
                    <a:bodyPr/>
                    <a:lstStyle/>
                    <a:p>
                      <a:pPr algn="ctr" indent="0" marL="0">
                        <a:buNone/>
                      </a:pPr>
                      <a:endParaRPr lang="en-US" sz="95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7F7F5"/>
                    </a:solidFill>
                  </a:tcPr>
                </a:tc>
                <a:tc>
                  <a:txBody>
                    <a:bodyPr/>
                    <a:lstStyle/>
                    <a:p>
                      <a:pPr algn="ctr" indent="0" marL="0">
                        <a:buNone/>
                      </a:pPr>
                      <a:endParaRPr lang="en-US" sz="950" dirty="0"/>
                    </a:p>
                  </a:txBody>
                  <a:tcPr marL="91440" marR="91440" marT="45720" marB="45720" anchor="ctr">
                    <a:lnL w="6350" cap="flat" cmpd="sng" algn="ctr">
                      <a:solidFill>
                        <a:srgbClr val="DADADA"/>
                      </a:solidFill>
                      <a:prstDash val="solid"/>
                      <a:round/>
                      <a:headEnd type="none" w="med" len="med"/>
                      <a:tailEnd type="none" w="med" len="med"/>
                    </a:lnL>
                    <a:lnR w="6350" cap="flat" cmpd="sng" algn="ctr">
                      <a:solidFill>
                        <a:srgbClr val="DADADA"/>
                      </a:solidFill>
                      <a:prstDash val="solid"/>
                      <a:round/>
                      <a:headEnd type="none" w="med" len="med"/>
                      <a:tailEnd type="none" w="med" len="med"/>
                    </a:lnR>
                    <a:lnT w="6350" cap="flat" cmpd="sng" algn="ctr">
                      <a:solidFill>
                        <a:srgbClr val="DADADA"/>
                      </a:solidFill>
                      <a:prstDash val="solid"/>
                      <a:round/>
                      <a:headEnd type="none" w="med" len="med"/>
                      <a:tailEnd type="none" w="med" len="med"/>
                    </a:lnT>
                    <a:lnB w="6350" cap="flat" cmpd="sng" algn="ctr">
                      <a:solidFill>
                        <a:srgbClr val="DADADA"/>
                      </a:solidFill>
                      <a:prstDash val="solid"/>
                      <a:round/>
                      <a:headEnd type="none" w="med" len="med"/>
                      <a:tailEnd type="none" w="med" len="med"/>
                    </a:lnB>
                    <a:solidFill>
                      <a:srgbClr val="F7F7F5"/>
                    </a:solidFill>
                  </a:tcPr>
                </a:tc>
              </a:tr>
            </a:tbl>
          </a:graphicData>
        </a:graphic>
      </p:graphicFrame>
      <p:sp>
        <p:nvSpPr>
          <p:cNvPr id="34" name="Shape 31"/>
          <p:cNvSpPr/>
          <p:nvPr/>
        </p:nvSpPr>
        <p:spPr>
          <a:xfrm>
            <a:off x="411480" y="5010912"/>
            <a:ext cx="3655466" cy="1042416"/>
          </a:xfrm>
          <a:prstGeom prst="roundRect">
            <a:avLst>
              <a:gd name="adj" fmla="val 4386"/>
            </a:avLst>
          </a:prstGeom>
          <a:solidFill>
            <a:srgbClr val="E7E9F0"/>
          </a:solidFill>
          <a:ln/>
        </p:spPr>
      </p:sp>
      <p:sp>
        <p:nvSpPr>
          <p:cNvPr id="35" name="Text 32"/>
          <p:cNvSpPr/>
          <p:nvPr/>
        </p:nvSpPr>
        <p:spPr>
          <a:xfrm>
            <a:off x="539496" y="5074920"/>
            <a:ext cx="3399434" cy="914400"/>
          </a:xfrm>
          <a:prstGeom prst="rect">
            <a:avLst/>
          </a:prstGeom>
          <a:noFill/>
          <a:ln/>
        </p:spPr>
        <p:txBody>
          <a:bodyPr wrap="square" lIns="0" tIns="0" rIns="0" bIns="0" rtlCol="0" anchor="t"/>
          <a:lstStyle/>
          <a:p>
            <a:pPr indent="0" marL="0">
              <a:lnSpc>
                <a:spcPct val="108000"/>
              </a:lnSpc>
              <a:spcAft>
                <a:spcPts val="200"/>
              </a:spcAft>
              <a:buNone/>
            </a:pPr>
            <a:r>
              <a:rPr lang="en-US" sz="790" b="1" dirty="0">
                <a:solidFill>
                  <a:srgbClr val="232D4B"/>
                </a:solidFill>
                <a:latin typeface="Calibri" pitchFamily="34" charset="0"/>
                <a:ea typeface="Calibri" pitchFamily="34" charset="-122"/>
                <a:cs typeface="Calibri" pitchFamily="34" charset="-120"/>
              </a:rPr>
              <a:t>SOW should include:  </a:t>
            </a:r>
            <a:endParaRPr lang="en-US" sz="790" dirty="0"/>
          </a:p>
          <a:p>
            <a:pPr indent="0" marL="0">
              <a:lnSpc>
                <a:spcPct val="108000"/>
              </a:lnSpc>
              <a:spcAft>
                <a:spcPts val="200"/>
              </a:spcAft>
              <a:buNone/>
            </a:pPr>
            <a:r>
              <a:rPr lang="en-US" sz="760" dirty="0">
                <a:solidFill>
                  <a:srgbClr val="5A6472"/>
                </a:solidFill>
                <a:latin typeface="Calibri" pitchFamily="34" charset="0"/>
                <a:ea typeface="Calibri" pitchFamily="34" charset="-122"/>
                <a:cs typeface="Calibri" pitchFamily="34" charset="-120"/>
              </a:rPr>
              <a:t>Research objectives, themes, scope, faculty collaboration, general use of funds.</a:t>
            </a:r>
            <a:endParaRPr lang="en-US" sz="790" dirty="0"/>
          </a:p>
          <a:p>
            <a:pPr indent="0" marL="0">
              <a:lnSpc>
                <a:spcPct val="108000"/>
              </a:lnSpc>
              <a:spcAft>
                <a:spcPts val="200"/>
              </a:spcAft>
              <a:buNone/>
            </a:pPr>
            <a:r>
              <a:rPr lang="en-US" sz="790" b="1" dirty="0">
                <a:solidFill>
                  <a:srgbClr val="EF3F6B"/>
                </a:solidFill>
                <a:latin typeface="Calibri" pitchFamily="34" charset="0"/>
                <a:ea typeface="Calibri" pitchFamily="34" charset="-122"/>
                <a:cs typeface="Calibri" pitchFamily="34" charset="-120"/>
              </a:rPr>
              <a:t>SOW should avoid:  </a:t>
            </a:r>
            <a:endParaRPr lang="en-US" sz="790" dirty="0"/>
          </a:p>
          <a:p>
            <a:pPr indent="0" marL="0">
              <a:lnSpc>
                <a:spcPct val="108000"/>
              </a:lnSpc>
              <a:spcAft>
                <a:spcPts val="200"/>
              </a:spcAft>
              <a:buNone/>
            </a:pPr>
            <a:r>
              <a:rPr lang="en-US" sz="760" dirty="0">
                <a:solidFill>
                  <a:srgbClr val="5A6472"/>
                </a:solidFill>
                <a:latin typeface="Calibri" pitchFamily="34" charset="0"/>
                <a:ea typeface="Calibri" pitchFamily="34" charset="-122"/>
                <a:cs typeface="Calibri" pitchFamily="34" charset="-120"/>
              </a:rPr>
              <a:t>Deliverables, milestones, deadlines, sponsor direction, publication requirements.</a:t>
            </a:r>
            <a:endParaRPr lang="en-US" sz="790" dirty="0"/>
          </a:p>
        </p:txBody>
      </p:sp>
      <p:sp>
        <p:nvSpPr>
          <p:cNvPr id="36" name="Text 33"/>
          <p:cNvSpPr/>
          <p:nvPr/>
        </p:nvSpPr>
        <p:spPr>
          <a:xfrm>
            <a:off x="4268114" y="3127248"/>
            <a:ext cx="3655466" cy="182880"/>
          </a:xfrm>
          <a:prstGeom prst="rect">
            <a:avLst/>
          </a:prstGeom>
          <a:noFill/>
          <a:ln/>
        </p:spPr>
        <p:txBody>
          <a:bodyPr wrap="square" lIns="0" tIns="0" rIns="0" bIns="0" rtlCol="0" anchor="ctr"/>
          <a:lstStyle/>
          <a:p>
            <a:pPr indent="0" marL="0">
              <a:buNone/>
            </a:pPr>
            <a:r>
              <a:rPr lang="en-US" sz="1000" b="1" spc="40" kern="0" dirty="0">
                <a:solidFill>
                  <a:srgbClr val="232D4B"/>
                </a:solidFill>
                <a:latin typeface="Calibri" pitchFamily="34" charset="0"/>
                <a:ea typeface="Calibri" pitchFamily="34" charset="-122"/>
                <a:cs typeface="Calibri" pitchFamily="34" charset="-120"/>
              </a:rPr>
              <a:t>STAKEHOLDER CHAIN — ONE CFR LEAD QUARTERBACKS</a:t>
            </a:r>
            <a:endParaRPr lang="en-US" sz="1000" dirty="0"/>
          </a:p>
        </p:txBody>
      </p:sp>
      <p:sp>
        <p:nvSpPr>
          <p:cNvPr id="37" name="Shape 34"/>
          <p:cNvSpPr/>
          <p:nvPr/>
        </p:nvSpPr>
        <p:spPr>
          <a:xfrm>
            <a:off x="4268114" y="3374136"/>
            <a:ext cx="3655466" cy="1024128"/>
          </a:xfrm>
          <a:prstGeom prst="roundRect">
            <a:avLst>
              <a:gd name="adj" fmla="val 4464"/>
            </a:avLst>
          </a:prstGeom>
          <a:solidFill>
            <a:srgbClr val="FFFFFF"/>
          </a:solidFill>
          <a:ln w="9525">
            <a:solidFill>
              <a:srgbClr val="DADADA"/>
            </a:solidFill>
            <a:prstDash val="solid"/>
          </a:ln>
        </p:spPr>
      </p:sp>
      <p:sp>
        <p:nvSpPr>
          <p:cNvPr id="38" name="Text 35"/>
          <p:cNvSpPr/>
          <p:nvPr/>
        </p:nvSpPr>
        <p:spPr>
          <a:xfrm>
            <a:off x="4396130" y="3456432"/>
            <a:ext cx="1644853" cy="859536"/>
          </a:xfrm>
          <a:prstGeom prst="rect">
            <a:avLst/>
          </a:prstGeom>
          <a:noFill/>
          <a:ln/>
        </p:spPr>
        <p:txBody>
          <a:bodyPr wrap="square" lIns="0" tIns="0" rIns="0" bIns="0" rtlCol="0" anchor="t"/>
          <a:lstStyle/>
          <a:p>
            <a:pPr indent="0" marL="0">
              <a:lnSpc>
                <a:spcPct val="125000"/>
              </a:lnSpc>
              <a:buNone/>
            </a:pPr>
            <a:r>
              <a:rPr lang="en-US" sz="760" b="1" dirty="0">
                <a:solidFill>
                  <a:srgbClr val="232D4B"/>
                </a:solidFill>
                <a:latin typeface="Calibri" pitchFamily="34" charset="0"/>
                <a:ea typeface="Calibri" pitchFamily="34" charset="-122"/>
                <a:cs typeface="Calibri" pitchFamily="34" charset="-120"/>
              </a:rPr>
              <a:t>1. Corporate Relations</a:t>
            </a:r>
            <a:endParaRPr lang="en-US" sz="760" dirty="0"/>
          </a:p>
          <a:p>
            <a:pPr indent="0" marL="0">
              <a:lnSpc>
                <a:spcPct val="125000"/>
              </a:lnSpc>
              <a:buNone/>
            </a:pPr>
            <a:r>
              <a:rPr lang="en-US" sz="760" b="1" dirty="0">
                <a:solidFill>
                  <a:srgbClr val="232D4B"/>
                </a:solidFill>
                <a:latin typeface="Calibri" pitchFamily="34" charset="0"/>
                <a:ea typeface="Calibri" pitchFamily="34" charset="-122"/>
                <a:cs typeface="Calibri" pitchFamily="34" charset="-120"/>
              </a:rPr>
              <a:t>2. Development Officer /</a:t>
            </a:r>
            <a:endParaRPr lang="en-US" sz="760" dirty="0"/>
          </a:p>
          <a:p>
            <a:pPr indent="0" marL="0">
              <a:lnSpc>
                <a:spcPct val="125000"/>
              </a:lnSpc>
              <a:buNone/>
            </a:pPr>
            <a:r>
              <a:rPr lang="en-US" sz="760" b="1" dirty="0">
                <a:solidFill>
                  <a:srgbClr val="232D4B"/>
                </a:solidFill>
                <a:latin typeface="Calibri" pitchFamily="34" charset="0"/>
                <a:ea typeface="Calibri" pitchFamily="34" charset="-122"/>
                <a:cs typeface="Calibri" pitchFamily="34" charset="-120"/>
              </a:rPr>
              <a:t>    Health Development</a:t>
            </a:r>
            <a:endParaRPr lang="en-US" sz="760" dirty="0"/>
          </a:p>
          <a:p>
            <a:pPr indent="0" marL="0">
              <a:lnSpc>
                <a:spcPct val="125000"/>
              </a:lnSpc>
              <a:buNone/>
            </a:pPr>
            <a:r>
              <a:rPr lang="en-US" sz="760" b="1" dirty="0">
                <a:solidFill>
                  <a:srgbClr val="232D4B"/>
                </a:solidFill>
                <a:latin typeface="Calibri" pitchFamily="34" charset="0"/>
                <a:ea typeface="Calibri" pitchFamily="34" charset="-122"/>
                <a:cs typeface="Calibri" pitchFamily="34" charset="-120"/>
              </a:rPr>
              <a:t>3. Dept. Leadership</a:t>
            </a:r>
            <a:endParaRPr lang="en-US" sz="760" dirty="0"/>
          </a:p>
          <a:p>
            <a:pPr indent="0" marL="0">
              <a:lnSpc>
                <a:spcPct val="125000"/>
              </a:lnSpc>
              <a:buNone/>
            </a:pPr>
            <a:r>
              <a:rPr lang="en-US" sz="760" b="1" dirty="0">
                <a:solidFill>
                  <a:srgbClr val="232D4B"/>
                </a:solidFill>
                <a:latin typeface="Calibri" pitchFamily="34" charset="0"/>
                <a:ea typeface="Calibri" pitchFamily="34" charset="-122"/>
                <a:cs typeface="Calibri" pitchFamily="34" charset="-120"/>
              </a:rPr>
              <a:t>4. Office of Sponsored</a:t>
            </a:r>
            <a:endParaRPr lang="en-US" sz="760" dirty="0"/>
          </a:p>
          <a:p>
            <a:pPr indent="0" marL="0">
              <a:lnSpc>
                <a:spcPct val="125000"/>
              </a:lnSpc>
              <a:buNone/>
            </a:pPr>
            <a:r>
              <a:rPr lang="en-US" sz="760" b="1" dirty="0">
                <a:solidFill>
                  <a:srgbClr val="232D4B"/>
                </a:solidFill>
                <a:latin typeface="Calibri" pitchFamily="34" charset="0"/>
                <a:ea typeface="Calibri" pitchFamily="34" charset="-122"/>
                <a:cs typeface="Calibri" pitchFamily="34" charset="-120"/>
              </a:rPr>
              <a:t>    Programs</a:t>
            </a:r>
            <a:endParaRPr lang="en-US" sz="760" dirty="0"/>
          </a:p>
          <a:p>
            <a:pPr indent="0" marL="0">
              <a:lnSpc>
                <a:spcPct val="125000"/>
              </a:lnSpc>
              <a:buNone/>
            </a:pPr>
            <a:r>
              <a:rPr lang="en-US" sz="760" b="1" dirty="0">
                <a:solidFill>
                  <a:srgbClr val="232D4B"/>
                </a:solidFill>
                <a:latin typeface="Calibri" pitchFamily="34" charset="0"/>
                <a:ea typeface="Calibri" pitchFamily="34" charset="-122"/>
                <a:cs typeface="Calibri" pitchFamily="34" charset="-120"/>
              </a:rPr>
              <a:t>5. Gift Administration</a:t>
            </a:r>
            <a:endParaRPr lang="en-US" sz="760" dirty="0"/>
          </a:p>
        </p:txBody>
      </p:sp>
      <p:sp>
        <p:nvSpPr>
          <p:cNvPr id="39" name="Text 36"/>
          <p:cNvSpPr/>
          <p:nvPr/>
        </p:nvSpPr>
        <p:spPr>
          <a:xfrm>
            <a:off x="6095848" y="3456432"/>
            <a:ext cx="1644853" cy="859536"/>
          </a:xfrm>
          <a:prstGeom prst="rect">
            <a:avLst/>
          </a:prstGeom>
          <a:noFill/>
          <a:ln/>
        </p:spPr>
        <p:txBody>
          <a:bodyPr wrap="square" lIns="0" tIns="0" rIns="0" bIns="0" rtlCol="0" anchor="t"/>
          <a:lstStyle/>
          <a:p>
            <a:pPr indent="0" marL="0">
              <a:lnSpc>
                <a:spcPct val="125000"/>
              </a:lnSpc>
              <a:buNone/>
            </a:pPr>
            <a:r>
              <a:rPr lang="en-US" sz="760" b="1" dirty="0">
                <a:solidFill>
                  <a:srgbClr val="232D4B"/>
                </a:solidFill>
                <a:latin typeface="Calibri" pitchFamily="34" charset="0"/>
                <a:ea typeface="Calibri" pitchFamily="34" charset="-122"/>
                <a:cs typeface="Calibri" pitchFamily="34" charset="-120"/>
              </a:rPr>
              <a:t>6. Finance</a:t>
            </a:r>
            <a:endParaRPr lang="en-US" sz="760" dirty="0"/>
          </a:p>
          <a:p>
            <a:pPr indent="0" marL="0">
              <a:lnSpc>
                <a:spcPct val="125000"/>
              </a:lnSpc>
              <a:buNone/>
            </a:pPr>
            <a:r>
              <a:rPr lang="en-US" sz="760" b="1" dirty="0">
                <a:solidFill>
                  <a:srgbClr val="232D4B"/>
                </a:solidFill>
                <a:latin typeface="Calibri" pitchFamily="34" charset="0"/>
                <a:ea typeface="Calibri" pitchFamily="34" charset="-122"/>
                <a:cs typeface="Calibri" pitchFamily="34" charset="-120"/>
              </a:rPr>
              <a:t>7. Legal</a:t>
            </a:r>
            <a:endParaRPr lang="en-US" sz="760" dirty="0"/>
          </a:p>
          <a:p>
            <a:pPr indent="0" marL="0">
              <a:lnSpc>
                <a:spcPct val="125000"/>
              </a:lnSpc>
              <a:buNone/>
            </a:pPr>
            <a:r>
              <a:rPr lang="en-US" sz="760" b="1" dirty="0">
                <a:solidFill>
                  <a:srgbClr val="232D4B"/>
                </a:solidFill>
                <a:latin typeface="Calibri" pitchFamily="34" charset="0"/>
                <a:ea typeface="Calibri" pitchFamily="34" charset="-122"/>
                <a:cs typeface="Calibri" pitchFamily="34" charset="-120"/>
              </a:rPr>
              <a:t>8. Research</a:t>
            </a:r>
            <a:endParaRPr lang="en-US" sz="760" dirty="0"/>
          </a:p>
          <a:p>
            <a:pPr indent="0" marL="0">
              <a:lnSpc>
                <a:spcPct val="125000"/>
              </a:lnSpc>
              <a:buNone/>
            </a:pPr>
            <a:r>
              <a:rPr lang="en-US" sz="760" b="1" dirty="0">
                <a:solidFill>
                  <a:srgbClr val="232D4B"/>
                </a:solidFill>
                <a:latin typeface="Calibri" pitchFamily="34" charset="0"/>
                <a:ea typeface="Calibri" pitchFamily="34" charset="-122"/>
                <a:cs typeface="Calibri" pitchFamily="34" charset="-120"/>
              </a:rPr>
              <a:t>    Administration</a:t>
            </a:r>
            <a:endParaRPr lang="en-US" sz="760" dirty="0"/>
          </a:p>
          <a:p>
            <a:pPr indent="0" marL="0">
              <a:lnSpc>
                <a:spcPct val="125000"/>
              </a:lnSpc>
              <a:buNone/>
            </a:pPr>
            <a:r>
              <a:rPr lang="en-US" sz="760" b="1" dirty="0">
                <a:solidFill>
                  <a:srgbClr val="232D4B"/>
                </a:solidFill>
                <a:latin typeface="Calibri" pitchFamily="34" charset="0"/>
                <a:ea typeface="Calibri" pitchFamily="34" charset="-122"/>
                <a:cs typeface="Calibri" pitchFamily="34" charset="-120"/>
              </a:rPr>
              <a:t>9. Collaborating</a:t>
            </a:r>
            <a:endParaRPr lang="en-US" sz="760" dirty="0"/>
          </a:p>
          <a:p>
            <a:pPr indent="0" marL="0">
              <a:lnSpc>
                <a:spcPct val="125000"/>
              </a:lnSpc>
              <a:buNone/>
            </a:pPr>
            <a:r>
              <a:rPr lang="en-US" sz="760" b="1" dirty="0">
                <a:solidFill>
                  <a:srgbClr val="232D4B"/>
                </a:solidFill>
                <a:latin typeface="Calibri" pitchFamily="34" charset="0"/>
                <a:ea typeface="Calibri" pitchFamily="34" charset="-122"/>
                <a:cs typeface="Calibri" pitchFamily="34" charset="-120"/>
              </a:rPr>
              <a:t>    Institution</a:t>
            </a:r>
            <a:endParaRPr lang="en-US" sz="760" dirty="0"/>
          </a:p>
        </p:txBody>
      </p:sp>
      <p:sp>
        <p:nvSpPr>
          <p:cNvPr id="40" name="Text 37"/>
          <p:cNvSpPr/>
          <p:nvPr/>
        </p:nvSpPr>
        <p:spPr>
          <a:xfrm>
            <a:off x="4268114" y="4434840"/>
            <a:ext cx="3655466" cy="292608"/>
          </a:xfrm>
          <a:prstGeom prst="rect">
            <a:avLst/>
          </a:prstGeom>
          <a:noFill/>
          <a:ln/>
        </p:spPr>
        <p:txBody>
          <a:bodyPr wrap="square" lIns="0" tIns="0" rIns="0" bIns="0" rtlCol="0" anchor="ctr"/>
          <a:lstStyle/>
          <a:p>
            <a:pPr indent="0" marL="0">
              <a:lnSpc>
                <a:spcPct val="115000"/>
              </a:lnSpc>
              <a:buNone/>
            </a:pPr>
            <a:r>
              <a:rPr lang="en-US" sz="680" i="1" dirty="0">
                <a:solidFill>
                  <a:srgbClr val="8492A6"/>
                </a:solidFill>
                <a:latin typeface="Calibri" pitchFamily="34" charset="0"/>
                <a:ea typeface="Calibri" pitchFamily="34" charset="-122"/>
                <a:cs typeface="Calibri" pitchFamily="34" charset="-120"/>
              </a:rPr>
              <a:t>Development Officer / Health Development is one role in this chain — same function, central Advancement or the Health System. Each link also has an assigned owner: relationship, agreement, budget, compliance, accounting, or stewardship lead.</a:t>
            </a:r>
            <a:endParaRPr lang="en-US" sz="680" dirty="0"/>
          </a:p>
        </p:txBody>
      </p:sp>
      <p:sp>
        <p:nvSpPr>
          <p:cNvPr id="41" name="Shape 38"/>
          <p:cNvSpPr/>
          <p:nvPr/>
        </p:nvSpPr>
        <p:spPr>
          <a:xfrm>
            <a:off x="4268114" y="4745736"/>
            <a:ext cx="3655466" cy="1307592"/>
          </a:xfrm>
          <a:prstGeom prst="roundRect">
            <a:avLst>
              <a:gd name="adj" fmla="val 3497"/>
            </a:avLst>
          </a:prstGeom>
          <a:solidFill>
            <a:srgbClr val="FCE8D5"/>
          </a:solidFill>
          <a:ln w="9525">
            <a:solidFill>
              <a:srgbClr val="E57200"/>
            </a:solidFill>
            <a:prstDash val="solid"/>
          </a:ln>
        </p:spPr>
      </p:sp>
      <p:sp>
        <p:nvSpPr>
          <p:cNvPr id="42" name="Text 39"/>
          <p:cNvSpPr/>
          <p:nvPr/>
        </p:nvSpPr>
        <p:spPr>
          <a:xfrm>
            <a:off x="4396130" y="4818888"/>
            <a:ext cx="3399434" cy="164592"/>
          </a:xfrm>
          <a:prstGeom prst="rect">
            <a:avLst/>
          </a:prstGeom>
          <a:noFill/>
          <a:ln/>
        </p:spPr>
        <p:txBody>
          <a:bodyPr wrap="square" lIns="0" tIns="0" rIns="0" bIns="0" rtlCol="0" anchor="ctr"/>
          <a:lstStyle/>
          <a:p>
            <a:pPr indent="0" marL="0">
              <a:buNone/>
            </a:pPr>
            <a:r>
              <a:rPr lang="en-US" sz="800" b="1" dirty="0">
                <a:solidFill>
                  <a:srgbClr val="CC6600"/>
                </a:solidFill>
                <a:latin typeface="Calibri" pitchFamily="34" charset="0"/>
                <a:ea typeface="Calibri" pitchFamily="34" charset="-122"/>
                <a:cs typeface="Calibri" pitchFamily="34" charset="-120"/>
              </a:rPr>
              <a:t>ESCALATE IMMEDIATELY IF THE GIFT INVOLVES:</a:t>
            </a:r>
            <a:endParaRPr lang="en-US" sz="800" dirty="0"/>
          </a:p>
        </p:txBody>
      </p:sp>
      <p:sp>
        <p:nvSpPr>
          <p:cNvPr id="43" name="Text 40"/>
          <p:cNvSpPr/>
          <p:nvPr/>
        </p:nvSpPr>
        <p:spPr>
          <a:xfrm>
            <a:off x="4396130" y="5001768"/>
            <a:ext cx="3399434" cy="978408"/>
          </a:xfrm>
          <a:prstGeom prst="rect">
            <a:avLst/>
          </a:prstGeom>
          <a:noFill/>
          <a:ln/>
        </p:spPr>
        <p:txBody>
          <a:bodyPr wrap="square" lIns="0" tIns="0" rIns="0" bIns="0" rtlCol="0" anchor="t"/>
          <a:lstStyle/>
          <a:p>
            <a:pPr indent="0" marL="0">
              <a:lnSpc>
                <a:spcPct val="120000"/>
              </a:lnSpc>
              <a:buNone/>
            </a:pPr>
            <a:r>
              <a:rPr lang="en-US" sz="770" dirty="0">
                <a:solidFill>
                  <a:srgbClr val="232D4B"/>
                </a:solidFill>
                <a:latin typeface="Calibri" pitchFamily="34" charset="0"/>
                <a:ea typeface="Calibri" pitchFamily="34" charset="-122"/>
                <a:cs typeface="Calibri" pitchFamily="34" charset="-120"/>
              </a:rPr>
              <a:t>Multiple institutions · Industry partner · International entity · Human subjects · Export controls · Intellectual property · Existing equity · Conflict of interest · Licensing · Technology transfer · Multiple funding entities · Pass-through funding</a:t>
            </a:r>
            <a:endParaRPr lang="en-US" sz="770" dirty="0"/>
          </a:p>
        </p:txBody>
      </p:sp>
      <p:sp>
        <p:nvSpPr>
          <p:cNvPr id="44" name="Text 41"/>
          <p:cNvSpPr/>
          <p:nvPr/>
        </p:nvSpPr>
        <p:spPr>
          <a:xfrm>
            <a:off x="8124749" y="3127248"/>
            <a:ext cx="3655466" cy="182880"/>
          </a:xfrm>
          <a:prstGeom prst="rect">
            <a:avLst/>
          </a:prstGeom>
          <a:noFill/>
          <a:ln/>
        </p:spPr>
        <p:txBody>
          <a:bodyPr wrap="square" lIns="0" tIns="0" rIns="0" bIns="0" rtlCol="0" anchor="ctr"/>
          <a:lstStyle/>
          <a:p>
            <a:pPr indent="0" marL="0">
              <a:buNone/>
            </a:pPr>
            <a:r>
              <a:rPr lang="en-US" sz="1000" b="1" spc="40" kern="0" dirty="0">
                <a:solidFill>
                  <a:srgbClr val="232D4B"/>
                </a:solidFill>
                <a:latin typeface="Calibri" pitchFamily="34" charset="0"/>
                <a:ea typeface="Calibri" pitchFamily="34" charset="-122"/>
                <a:cs typeface="Calibri" pitchFamily="34" charset="-120"/>
              </a:rPr>
              <a:t>LESSONS LEARNED — PBM CAPITAL GIFT</a:t>
            </a:r>
            <a:endParaRPr lang="en-US" sz="1000" dirty="0"/>
          </a:p>
        </p:txBody>
      </p:sp>
      <p:sp>
        <p:nvSpPr>
          <p:cNvPr id="45" name="Shape 42"/>
          <p:cNvSpPr/>
          <p:nvPr/>
        </p:nvSpPr>
        <p:spPr>
          <a:xfrm>
            <a:off x="8124749" y="3374136"/>
            <a:ext cx="3655466" cy="480974"/>
          </a:xfrm>
          <a:prstGeom prst="roundRect">
            <a:avLst>
              <a:gd name="adj" fmla="val 7605"/>
            </a:avLst>
          </a:prstGeom>
          <a:solidFill>
            <a:srgbClr val="FFFFFF"/>
          </a:solidFill>
          <a:ln w="6350">
            <a:solidFill>
              <a:srgbClr val="DADADA"/>
            </a:solidFill>
            <a:prstDash val="solid"/>
          </a:ln>
        </p:spPr>
      </p:sp>
      <p:sp>
        <p:nvSpPr>
          <p:cNvPr id="46" name="Shape 43"/>
          <p:cNvSpPr/>
          <p:nvPr/>
        </p:nvSpPr>
        <p:spPr>
          <a:xfrm>
            <a:off x="8207045" y="3456432"/>
            <a:ext cx="82296" cy="82296"/>
          </a:xfrm>
          <a:prstGeom prst="oval">
            <a:avLst/>
          </a:prstGeom>
          <a:solidFill>
            <a:srgbClr val="E57200"/>
          </a:solidFill>
          <a:ln/>
        </p:spPr>
      </p:sp>
      <p:sp>
        <p:nvSpPr>
          <p:cNvPr id="47" name="Text 44"/>
          <p:cNvSpPr/>
          <p:nvPr/>
        </p:nvSpPr>
        <p:spPr>
          <a:xfrm>
            <a:off x="8362493" y="3392424"/>
            <a:ext cx="3326282" cy="444398"/>
          </a:xfrm>
          <a:prstGeom prst="rect">
            <a:avLst/>
          </a:prstGeom>
          <a:noFill/>
          <a:ln/>
        </p:spPr>
        <p:txBody>
          <a:bodyPr wrap="square" lIns="0" tIns="0" rIns="0" bIns="0" rtlCol="0" anchor="t"/>
          <a:lstStyle/>
          <a:p>
            <a:pPr indent="0" marL="0">
              <a:lnSpc>
                <a:spcPct val="105000"/>
              </a:lnSpc>
              <a:buNone/>
            </a:pPr>
            <a:r>
              <a:rPr lang="en-US" sz="710" b="1" dirty="0">
                <a:solidFill>
                  <a:srgbClr val="232D4B"/>
                </a:solidFill>
                <a:latin typeface="Calibri" pitchFamily="34" charset="0"/>
                <a:ea typeface="Calibri" pitchFamily="34" charset="-122"/>
                <a:cs typeface="Calibri" pitchFamily="34" charset="-120"/>
              </a:rPr>
              <a:t>Donor intent changed over time.</a:t>
            </a:r>
            <a:endParaRPr lang="en-US" sz="710" dirty="0"/>
          </a:p>
          <a:p>
            <a:pPr indent="0" marL="0">
              <a:lnSpc>
                <a:spcPct val="105000"/>
              </a:lnSpc>
              <a:buNone/>
            </a:pPr>
            <a:r>
              <a:rPr lang="en-US" sz="710" dirty="0">
                <a:solidFill>
                  <a:srgbClr val="5A6472"/>
                </a:solidFill>
                <a:latin typeface="Calibri" pitchFamily="34" charset="0"/>
                <a:ea typeface="Calibri" pitchFamily="34" charset="-122"/>
                <a:cs typeface="Calibri" pitchFamily="34" charset="-120"/>
              </a:rPr>
              <a:t>→ Revisit donor motivation throughout the process.</a:t>
            </a:r>
            <a:endParaRPr lang="en-US" sz="710" dirty="0"/>
          </a:p>
        </p:txBody>
      </p:sp>
      <p:sp>
        <p:nvSpPr>
          <p:cNvPr id="48" name="Shape 45"/>
          <p:cNvSpPr/>
          <p:nvPr/>
        </p:nvSpPr>
        <p:spPr>
          <a:xfrm>
            <a:off x="8124749" y="3909974"/>
            <a:ext cx="3655466" cy="480974"/>
          </a:xfrm>
          <a:prstGeom prst="roundRect">
            <a:avLst>
              <a:gd name="adj" fmla="val 7605"/>
            </a:avLst>
          </a:prstGeom>
          <a:solidFill>
            <a:srgbClr val="F7F7F5"/>
          </a:solidFill>
          <a:ln w="6350">
            <a:solidFill>
              <a:srgbClr val="DADADA"/>
            </a:solidFill>
            <a:prstDash val="solid"/>
          </a:ln>
        </p:spPr>
      </p:sp>
      <p:sp>
        <p:nvSpPr>
          <p:cNvPr id="49" name="Shape 46"/>
          <p:cNvSpPr/>
          <p:nvPr/>
        </p:nvSpPr>
        <p:spPr>
          <a:xfrm>
            <a:off x="8207045" y="3992270"/>
            <a:ext cx="82296" cy="82296"/>
          </a:xfrm>
          <a:prstGeom prst="oval">
            <a:avLst/>
          </a:prstGeom>
          <a:solidFill>
            <a:srgbClr val="E57200"/>
          </a:solidFill>
          <a:ln/>
        </p:spPr>
      </p:sp>
      <p:sp>
        <p:nvSpPr>
          <p:cNvPr id="50" name="Text 47"/>
          <p:cNvSpPr/>
          <p:nvPr/>
        </p:nvSpPr>
        <p:spPr>
          <a:xfrm>
            <a:off x="8362493" y="3928262"/>
            <a:ext cx="3326282" cy="444398"/>
          </a:xfrm>
          <a:prstGeom prst="rect">
            <a:avLst/>
          </a:prstGeom>
          <a:noFill/>
          <a:ln/>
        </p:spPr>
        <p:txBody>
          <a:bodyPr wrap="square" lIns="0" tIns="0" rIns="0" bIns="0" rtlCol="0" anchor="t"/>
          <a:lstStyle/>
          <a:p>
            <a:pPr indent="0" marL="0">
              <a:lnSpc>
                <a:spcPct val="105000"/>
              </a:lnSpc>
              <a:buNone/>
            </a:pPr>
            <a:r>
              <a:rPr lang="en-US" sz="710" b="1" dirty="0">
                <a:solidFill>
                  <a:srgbClr val="232D4B"/>
                </a:solidFill>
                <a:latin typeface="Calibri" pitchFamily="34" charset="0"/>
                <a:ea typeface="Calibri" pitchFamily="34" charset="-122"/>
                <a:cs typeface="Calibri" pitchFamily="34" charset="-120"/>
              </a:rPr>
              <a:t>OSP held the only mechanism to disburse funds externally.</a:t>
            </a:r>
            <a:endParaRPr lang="en-US" sz="710" dirty="0"/>
          </a:p>
          <a:p>
            <a:pPr indent="0" marL="0">
              <a:lnSpc>
                <a:spcPct val="105000"/>
              </a:lnSpc>
              <a:buNone/>
            </a:pPr>
            <a:r>
              <a:rPr lang="en-US" sz="710" dirty="0">
                <a:solidFill>
                  <a:srgbClr val="5A6472"/>
                </a:solidFill>
                <a:latin typeface="Calibri" pitchFamily="34" charset="0"/>
                <a:ea typeface="Calibri" pitchFamily="34" charset="-122"/>
                <a:cs typeface="Calibri" pitchFamily="34" charset="-120"/>
              </a:rPr>
              <a:t>→ Engage OSP early — Advancement Accounting can't send funds out; OSP's payment channel often must.</a:t>
            </a:r>
            <a:endParaRPr lang="en-US" sz="710" dirty="0"/>
          </a:p>
        </p:txBody>
      </p:sp>
      <p:sp>
        <p:nvSpPr>
          <p:cNvPr id="51" name="Shape 48"/>
          <p:cNvSpPr/>
          <p:nvPr/>
        </p:nvSpPr>
        <p:spPr>
          <a:xfrm>
            <a:off x="8124749" y="4445813"/>
            <a:ext cx="3655466" cy="480974"/>
          </a:xfrm>
          <a:prstGeom prst="roundRect">
            <a:avLst>
              <a:gd name="adj" fmla="val 7605"/>
            </a:avLst>
          </a:prstGeom>
          <a:solidFill>
            <a:srgbClr val="FFFFFF"/>
          </a:solidFill>
          <a:ln w="6350">
            <a:solidFill>
              <a:srgbClr val="DADADA"/>
            </a:solidFill>
            <a:prstDash val="solid"/>
          </a:ln>
        </p:spPr>
      </p:sp>
      <p:sp>
        <p:nvSpPr>
          <p:cNvPr id="52" name="Shape 49"/>
          <p:cNvSpPr/>
          <p:nvPr/>
        </p:nvSpPr>
        <p:spPr>
          <a:xfrm>
            <a:off x="8207045" y="4528109"/>
            <a:ext cx="82296" cy="82296"/>
          </a:xfrm>
          <a:prstGeom prst="oval">
            <a:avLst/>
          </a:prstGeom>
          <a:solidFill>
            <a:srgbClr val="E57200"/>
          </a:solidFill>
          <a:ln/>
        </p:spPr>
      </p:sp>
      <p:sp>
        <p:nvSpPr>
          <p:cNvPr id="53" name="Text 50"/>
          <p:cNvSpPr/>
          <p:nvPr/>
        </p:nvSpPr>
        <p:spPr>
          <a:xfrm>
            <a:off x="8362493" y="4464101"/>
            <a:ext cx="3326282" cy="444398"/>
          </a:xfrm>
          <a:prstGeom prst="rect">
            <a:avLst/>
          </a:prstGeom>
          <a:noFill/>
          <a:ln/>
        </p:spPr>
        <p:txBody>
          <a:bodyPr wrap="square" lIns="0" tIns="0" rIns="0" bIns="0" rtlCol="0" anchor="t"/>
          <a:lstStyle/>
          <a:p>
            <a:pPr indent="0" marL="0">
              <a:lnSpc>
                <a:spcPct val="105000"/>
              </a:lnSpc>
              <a:buNone/>
            </a:pPr>
            <a:r>
              <a:rPr lang="en-US" sz="710" b="1" dirty="0">
                <a:solidFill>
                  <a:srgbClr val="232D4B"/>
                </a:solidFill>
                <a:latin typeface="Calibri" pitchFamily="34" charset="0"/>
                <a:ea typeface="Calibri" pitchFamily="34" charset="-122"/>
                <a:cs typeface="Calibri" pitchFamily="34" charset="-120"/>
              </a:rPr>
              <a:t>Multi-party gifts need special accounting.</a:t>
            </a:r>
            <a:endParaRPr lang="en-US" sz="710" dirty="0"/>
          </a:p>
          <a:p>
            <a:pPr indent="0" marL="0">
              <a:lnSpc>
                <a:spcPct val="105000"/>
              </a:lnSpc>
              <a:buNone/>
            </a:pPr>
            <a:r>
              <a:rPr lang="en-US" sz="710" dirty="0">
                <a:solidFill>
                  <a:srgbClr val="5A6472"/>
                </a:solidFill>
                <a:latin typeface="Calibri" pitchFamily="34" charset="0"/>
                <a:ea typeface="Calibri" pitchFamily="34" charset="-122"/>
                <a:cs typeface="Calibri" pitchFamily="34" charset="-120"/>
              </a:rPr>
              <a:t>→ Involve Gift Administration before agreements are finalized.</a:t>
            </a:r>
            <a:endParaRPr lang="en-US" sz="710" dirty="0"/>
          </a:p>
        </p:txBody>
      </p:sp>
      <p:sp>
        <p:nvSpPr>
          <p:cNvPr id="54" name="Shape 51"/>
          <p:cNvSpPr/>
          <p:nvPr/>
        </p:nvSpPr>
        <p:spPr>
          <a:xfrm>
            <a:off x="8124749" y="4981651"/>
            <a:ext cx="3655466" cy="480974"/>
          </a:xfrm>
          <a:prstGeom prst="roundRect">
            <a:avLst>
              <a:gd name="adj" fmla="val 7605"/>
            </a:avLst>
          </a:prstGeom>
          <a:solidFill>
            <a:srgbClr val="F7F7F5"/>
          </a:solidFill>
          <a:ln w="6350">
            <a:solidFill>
              <a:srgbClr val="DADADA"/>
            </a:solidFill>
            <a:prstDash val="solid"/>
          </a:ln>
        </p:spPr>
      </p:sp>
      <p:sp>
        <p:nvSpPr>
          <p:cNvPr id="55" name="Shape 52"/>
          <p:cNvSpPr/>
          <p:nvPr/>
        </p:nvSpPr>
        <p:spPr>
          <a:xfrm>
            <a:off x="8207045" y="5063947"/>
            <a:ext cx="82296" cy="82296"/>
          </a:xfrm>
          <a:prstGeom prst="oval">
            <a:avLst/>
          </a:prstGeom>
          <a:solidFill>
            <a:srgbClr val="E57200"/>
          </a:solidFill>
          <a:ln/>
        </p:spPr>
      </p:sp>
      <p:sp>
        <p:nvSpPr>
          <p:cNvPr id="56" name="Text 53"/>
          <p:cNvSpPr/>
          <p:nvPr/>
        </p:nvSpPr>
        <p:spPr>
          <a:xfrm>
            <a:off x="8362493" y="4999939"/>
            <a:ext cx="3326282" cy="444398"/>
          </a:xfrm>
          <a:prstGeom prst="rect">
            <a:avLst/>
          </a:prstGeom>
          <a:noFill/>
          <a:ln/>
        </p:spPr>
        <p:txBody>
          <a:bodyPr wrap="square" lIns="0" tIns="0" rIns="0" bIns="0" rtlCol="0" anchor="t"/>
          <a:lstStyle/>
          <a:p>
            <a:pPr indent="0" marL="0">
              <a:lnSpc>
                <a:spcPct val="105000"/>
              </a:lnSpc>
              <a:buNone/>
            </a:pPr>
            <a:r>
              <a:rPr lang="en-US" sz="710" b="1" dirty="0">
                <a:solidFill>
                  <a:srgbClr val="232D4B"/>
                </a:solidFill>
                <a:latin typeface="Calibri" pitchFamily="34" charset="0"/>
                <a:ea typeface="Calibri" pitchFamily="34" charset="-122"/>
                <a:cs typeface="Calibri" pitchFamily="34" charset="-120"/>
              </a:rPr>
              <a:t>The 5% Health Dev. fee can reduce research funds if unaddressed.</a:t>
            </a:r>
            <a:endParaRPr lang="en-US" sz="710" dirty="0"/>
          </a:p>
          <a:p>
            <a:pPr indent="0" marL="0">
              <a:lnSpc>
                <a:spcPct val="105000"/>
              </a:lnSpc>
              <a:buNone/>
            </a:pPr>
            <a:r>
              <a:rPr lang="en-US" sz="710" dirty="0">
                <a:solidFill>
                  <a:srgbClr val="5A6472"/>
                </a:solidFill>
                <a:latin typeface="Calibri" pitchFamily="34" charset="0"/>
                <a:ea typeface="Calibri" pitchFamily="34" charset="-122"/>
                <a:cs typeface="Calibri" pitchFamily="34" charset="-120"/>
              </a:rPr>
              <a:t>→ Negotiate the fee on top of the gift, discussed with the donor upfront.</a:t>
            </a:r>
            <a:endParaRPr lang="en-US" sz="710" dirty="0"/>
          </a:p>
        </p:txBody>
      </p:sp>
      <p:sp>
        <p:nvSpPr>
          <p:cNvPr id="57" name="Shape 54"/>
          <p:cNvSpPr/>
          <p:nvPr/>
        </p:nvSpPr>
        <p:spPr>
          <a:xfrm>
            <a:off x="8124749" y="5517490"/>
            <a:ext cx="3655466" cy="480974"/>
          </a:xfrm>
          <a:prstGeom prst="roundRect">
            <a:avLst>
              <a:gd name="adj" fmla="val 7605"/>
            </a:avLst>
          </a:prstGeom>
          <a:solidFill>
            <a:srgbClr val="FFFFFF"/>
          </a:solidFill>
          <a:ln w="6350">
            <a:solidFill>
              <a:srgbClr val="DADADA"/>
            </a:solidFill>
            <a:prstDash val="solid"/>
          </a:ln>
        </p:spPr>
      </p:sp>
      <p:sp>
        <p:nvSpPr>
          <p:cNvPr id="58" name="Shape 55"/>
          <p:cNvSpPr/>
          <p:nvPr/>
        </p:nvSpPr>
        <p:spPr>
          <a:xfrm>
            <a:off x="8207045" y="5599786"/>
            <a:ext cx="82296" cy="82296"/>
          </a:xfrm>
          <a:prstGeom prst="oval">
            <a:avLst/>
          </a:prstGeom>
          <a:solidFill>
            <a:srgbClr val="E57200"/>
          </a:solidFill>
          <a:ln/>
        </p:spPr>
      </p:sp>
      <p:sp>
        <p:nvSpPr>
          <p:cNvPr id="59" name="Text 56"/>
          <p:cNvSpPr/>
          <p:nvPr/>
        </p:nvSpPr>
        <p:spPr>
          <a:xfrm>
            <a:off x="8362493" y="5535778"/>
            <a:ext cx="3326282" cy="444398"/>
          </a:xfrm>
          <a:prstGeom prst="rect">
            <a:avLst/>
          </a:prstGeom>
          <a:noFill/>
          <a:ln/>
        </p:spPr>
        <p:txBody>
          <a:bodyPr wrap="square" lIns="0" tIns="0" rIns="0" bIns="0" rtlCol="0" anchor="t"/>
          <a:lstStyle/>
          <a:p>
            <a:pPr indent="0" marL="0">
              <a:lnSpc>
                <a:spcPct val="105000"/>
              </a:lnSpc>
              <a:buNone/>
            </a:pPr>
            <a:r>
              <a:rPr lang="en-US" sz="710" b="1" dirty="0">
                <a:solidFill>
                  <a:srgbClr val="232D4B"/>
                </a:solidFill>
                <a:latin typeface="Calibri" pitchFamily="34" charset="0"/>
                <a:ea typeface="Calibri" pitchFamily="34" charset="-122"/>
                <a:cs typeface="Calibri" pitchFamily="34" charset="-120"/>
              </a:rPr>
              <a:t>Many offices touched the project.</a:t>
            </a:r>
            <a:endParaRPr lang="en-US" sz="710" dirty="0"/>
          </a:p>
          <a:p>
            <a:pPr indent="0" marL="0">
              <a:lnSpc>
                <a:spcPct val="105000"/>
              </a:lnSpc>
              <a:buNone/>
            </a:pPr>
            <a:r>
              <a:rPr lang="en-US" sz="710" dirty="0">
                <a:solidFill>
                  <a:srgbClr val="5A6472"/>
                </a:solidFill>
                <a:latin typeface="Calibri" pitchFamily="34" charset="0"/>
                <a:ea typeface="Calibri" pitchFamily="34" charset="-122"/>
                <a:cs typeface="Calibri" pitchFamily="34" charset="-120"/>
              </a:rPr>
              <a:t>→ Assign one CFR lead to quarterback the donor experience.</a:t>
            </a:r>
            <a:endParaRPr lang="en-US" sz="710" dirty="0"/>
          </a:p>
        </p:txBody>
      </p:sp>
      <p:sp>
        <p:nvSpPr>
          <p:cNvPr id="60" name="Shape 57"/>
          <p:cNvSpPr/>
          <p:nvPr/>
        </p:nvSpPr>
        <p:spPr>
          <a:xfrm>
            <a:off x="0" y="6053328"/>
            <a:ext cx="12191695" cy="804672"/>
          </a:xfrm>
          <a:prstGeom prst="rect">
            <a:avLst/>
          </a:prstGeom>
          <a:solidFill>
            <a:srgbClr val="232D4B"/>
          </a:solidFill>
          <a:ln/>
        </p:spPr>
      </p:sp>
      <p:sp>
        <p:nvSpPr>
          <p:cNvPr id="61" name="Text 58"/>
          <p:cNvSpPr/>
          <p:nvPr/>
        </p:nvSpPr>
        <p:spPr>
          <a:xfrm>
            <a:off x="411480" y="6126480"/>
            <a:ext cx="11384280" cy="658368"/>
          </a:xfrm>
          <a:prstGeom prst="rect">
            <a:avLst/>
          </a:prstGeom>
          <a:noFill/>
          <a:ln/>
        </p:spPr>
        <p:txBody>
          <a:bodyPr wrap="square" lIns="0" tIns="0" rIns="0" bIns="0" rtlCol="0" anchor="t"/>
          <a:lstStyle/>
          <a:p>
            <a:pPr indent="0" marL="0">
              <a:lnSpc>
                <a:spcPct val="115000"/>
              </a:lnSpc>
              <a:buNone/>
            </a:pPr>
            <a:r>
              <a:rPr lang="en-US" sz="1050" b="1" dirty="0">
                <a:solidFill>
                  <a:srgbClr val="E57200"/>
                </a:solidFill>
                <a:latin typeface="Cambria" pitchFamily="34" charset="0"/>
                <a:ea typeface="Cambria" pitchFamily="34" charset="-122"/>
                <a:cs typeface="Cambria" pitchFamily="34" charset="-120"/>
              </a:rPr>
              <a:t>Guiding Principle:  </a:t>
            </a:r>
            <a:pPr indent="0" marL="0">
              <a:lnSpc>
                <a:spcPct val="115000"/>
              </a:lnSpc>
              <a:buNone/>
            </a:pPr>
            <a:r>
              <a:rPr lang="en-US" sz="1050" i="1" dirty="0">
                <a:solidFill>
                  <a:srgbClr val="FFFFFF"/>
                </a:solidFill>
                <a:latin typeface="Cambria" pitchFamily="34" charset="0"/>
                <a:ea typeface="Cambria" pitchFamily="34" charset="-122"/>
                <a:cs typeface="Cambria" pitchFamily="34" charset="-120"/>
              </a:rPr>
              <a:t>Every complex industry gift should leave the University with a stronger process than it had before. Our role is to align institutional partners, translate complexity for donors, protect the University's interests, and create an experience that makes industry partners want to work with UVA again.</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2026-08-05T15:14:50Z</dcterms:created>
  <dcterms:modified xsi:type="dcterms:W3CDTF">2026-08-05T15:14:50Z</dcterms:modified>
</cp:coreProperties>
</file>