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1EF"/>
        </a:solidFill>
      </p:bgPr>
    </p:bg>
    <p:spTree>
      <p:nvGrpSpPr>
        <p:cNvPr id="1" name=""/>
        <p:cNvGrpSpPr/>
        <p:nvPr/>
      </p:nvGrpSpPr>
      <p:grpSpPr>
        <a:xfrm>
          <a:off x="0" y="0"/>
          <a:ext cx="0" cy="0"/>
          <a:chOff x="0" y="0"/>
          <a:chExt cx="0" cy="0"/>
        </a:xfrm>
      </p:grpSpPr>
      <p:sp>
        <p:nvSpPr>
          <p:cNvPr id="2" name="Shape 0"/>
          <p:cNvSpPr/>
          <p:nvPr/>
        </p:nvSpPr>
        <p:spPr>
          <a:xfrm>
            <a:off x="0" y="0"/>
            <a:ext cx="12191695" cy="932688"/>
          </a:xfrm>
          <a:prstGeom prst="rect">
            <a:avLst/>
          </a:prstGeom>
          <a:solidFill>
            <a:srgbClr val="232D4B"/>
          </a:solidFill>
          <a:ln/>
        </p:spPr>
      </p:sp>
      <p:sp>
        <p:nvSpPr>
          <p:cNvPr id="3" name="Text 1"/>
          <p:cNvSpPr/>
          <p:nvPr/>
        </p:nvSpPr>
        <p:spPr>
          <a:xfrm>
            <a:off x="411480" y="100584"/>
            <a:ext cx="8778240" cy="201168"/>
          </a:xfrm>
          <a:prstGeom prst="rect">
            <a:avLst/>
          </a:prstGeom>
          <a:noFill/>
          <a:ln/>
        </p:spPr>
        <p:txBody>
          <a:bodyPr wrap="square" lIns="0" tIns="0" rIns="0" bIns="0" rtlCol="0" anchor="ctr"/>
          <a:lstStyle/>
          <a:p>
            <a:pPr indent="0" marL="0">
              <a:buNone/>
            </a:pPr>
            <a:r>
              <a:rPr lang="en-US" sz="1000" b="1" spc="100" kern="0" dirty="0">
                <a:solidFill>
                  <a:srgbClr val="E57200"/>
                </a:solidFill>
                <a:latin typeface="Calibri" pitchFamily="34" charset="0"/>
                <a:ea typeface="Calibri" pitchFamily="34" charset="-122"/>
                <a:cs typeface="Calibri" pitchFamily="34" charset="-120"/>
              </a:rPr>
              <a:t>CORPORATE &amp; FOUNDATION RELATIONS   •   STANDARD OPERATING PROCEDURE</a:t>
            </a:r>
            <a:endParaRPr lang="en-US" sz="1000" dirty="0"/>
          </a:p>
        </p:txBody>
      </p:sp>
      <p:sp>
        <p:nvSpPr>
          <p:cNvPr id="4" name="Text 2"/>
          <p:cNvSpPr/>
          <p:nvPr/>
        </p:nvSpPr>
        <p:spPr>
          <a:xfrm>
            <a:off x="411480" y="292608"/>
            <a:ext cx="9006840" cy="402336"/>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Complex Industry-Supported Research Gift Workflow</a:t>
            </a:r>
            <a:endParaRPr lang="en-US" sz="2100" dirty="0"/>
          </a:p>
        </p:txBody>
      </p:sp>
      <p:sp>
        <p:nvSpPr>
          <p:cNvPr id="5" name="Text 3"/>
          <p:cNvSpPr/>
          <p:nvPr/>
        </p:nvSpPr>
        <p:spPr>
          <a:xfrm>
            <a:off x="411480" y="722376"/>
            <a:ext cx="9006840" cy="182880"/>
          </a:xfrm>
          <a:prstGeom prst="rect">
            <a:avLst/>
          </a:prstGeom>
          <a:noFill/>
          <a:ln/>
        </p:spPr>
        <p:txBody>
          <a:bodyPr wrap="square" lIns="0" tIns="0" rIns="0" bIns="0" rtlCol="0" anchor="ctr"/>
          <a:lstStyle/>
          <a:p>
            <a:pPr indent="0" marL="0">
              <a:buNone/>
            </a:pPr>
            <a:r>
              <a:rPr lang="en-US" sz="900" i="1" dirty="0">
                <a:solidFill>
                  <a:srgbClr val="B7C0D6"/>
                </a:solidFill>
                <a:latin typeface="Calibri" pitchFamily="34" charset="0"/>
                <a:ea typeface="Calibri" pitchFamily="34" charset="-122"/>
                <a:cs typeface="Calibri" pitchFamily="34" charset="-120"/>
              </a:rPr>
              <a:t>An 11-stage decision framework for evaluating, structuring, and stewarding industry-funded research gifts — validated by the PBM Capital / Manning Institute gift</a:t>
            </a:r>
            <a:endParaRPr lang="en-US" sz="900" dirty="0"/>
          </a:p>
        </p:txBody>
      </p:sp>
      <p:sp>
        <p:nvSpPr>
          <p:cNvPr id="6" name="Text 4"/>
          <p:cNvSpPr/>
          <p:nvPr/>
        </p:nvSpPr>
        <p:spPr>
          <a:xfrm>
            <a:off x="9464040" y="256032"/>
            <a:ext cx="2331720" cy="457200"/>
          </a:xfrm>
          <a:prstGeom prst="rect">
            <a:avLst/>
          </a:prstGeom>
          <a:noFill/>
          <a:ln/>
        </p:spPr>
        <p:txBody>
          <a:bodyPr wrap="square" lIns="0" tIns="0" rIns="0" bIns="0" rtlCol="0" anchor="ctr"/>
          <a:lstStyle/>
          <a:p>
            <a:pPr algn="r" indent="0" marL="0">
              <a:lnSpc>
                <a:spcPct val="120000"/>
              </a:lnSpc>
              <a:buNone/>
            </a:pPr>
            <a:r>
              <a:rPr lang="en-US" sz="950" b="1" dirty="0">
                <a:solidFill>
                  <a:srgbClr val="E57200"/>
                </a:solidFill>
                <a:latin typeface="Calibri" pitchFamily="34" charset="0"/>
                <a:ea typeface="Calibri" pitchFamily="34" charset="-122"/>
                <a:cs typeface="Calibri" pitchFamily="34" charset="-120"/>
              </a:rPr>
              <a:t>v1.0 — Draft for Review</a:t>
            </a:r>
            <a:endParaRPr lang="en-US" sz="950" dirty="0"/>
          </a:p>
          <a:p>
            <a:pPr algn="r" indent="0" marL="0">
              <a:lnSpc>
                <a:spcPct val="120000"/>
              </a:lnSpc>
              <a:buNone/>
            </a:pPr>
            <a:r>
              <a:rPr lang="en-US" sz="850" dirty="0">
                <a:solidFill>
                  <a:srgbClr val="B7C0D6"/>
                </a:solidFill>
                <a:latin typeface="Calibri" pitchFamily="34" charset="0"/>
                <a:ea typeface="Calibri" pitchFamily="34" charset="-122"/>
                <a:cs typeface="Calibri" pitchFamily="34" charset="-120"/>
              </a:rPr>
              <a:t>UVA Development — CFR</a:t>
            </a:r>
            <a:endParaRPr lang="en-US" sz="950" dirty="0"/>
          </a:p>
        </p:txBody>
      </p:sp>
      <p:sp>
        <p:nvSpPr>
          <p:cNvPr id="7" name="Text 5"/>
          <p:cNvSpPr/>
          <p:nvPr/>
        </p:nvSpPr>
        <p:spPr>
          <a:xfrm>
            <a:off x="411480" y="1005840"/>
            <a:ext cx="7315200" cy="182880"/>
          </a:xfrm>
          <a:prstGeom prst="rect">
            <a:avLst/>
          </a:prstGeom>
          <a:noFill/>
          <a:ln/>
        </p:spPr>
        <p:txBody>
          <a:bodyPr wrap="square" lIns="0" tIns="0" rIns="0" bIns="0" rtlCol="0" anchor="ctr"/>
          <a:lstStyle/>
          <a:p>
            <a:pPr indent="0" marL="0">
              <a:buNone/>
            </a:pPr>
            <a:r>
              <a:rPr lang="en-US" sz="1050" b="1" spc="60" kern="0" dirty="0">
                <a:solidFill>
                  <a:srgbClr val="232D4B"/>
                </a:solidFill>
                <a:latin typeface="Calibri" pitchFamily="34" charset="0"/>
                <a:ea typeface="Calibri" pitchFamily="34" charset="-122"/>
                <a:cs typeface="Calibri" pitchFamily="34" charset="-120"/>
              </a:rPr>
              <a:t>PROCESS FLOW — ELEVEN STAGES, TWO DECISION GATES</a:t>
            </a:r>
            <a:endParaRPr lang="en-US" sz="1050" dirty="0"/>
          </a:p>
        </p:txBody>
      </p:sp>
      <p:sp>
        <p:nvSpPr>
          <p:cNvPr id="8" name="Shape 6"/>
          <p:cNvSpPr/>
          <p:nvPr/>
        </p:nvSpPr>
        <p:spPr>
          <a:xfrm>
            <a:off x="411480" y="1261872"/>
            <a:ext cx="1810969" cy="841248"/>
          </a:xfrm>
          <a:prstGeom prst="roundRect">
            <a:avLst>
              <a:gd name="adj" fmla="val 6522"/>
            </a:avLst>
          </a:prstGeom>
          <a:solidFill>
            <a:srgbClr val="FFFFFF"/>
          </a:solidFill>
          <a:ln w="12700">
            <a:solidFill>
              <a:srgbClr val="DADADA"/>
            </a:solidFill>
            <a:prstDash val="solid"/>
          </a:ln>
        </p:spPr>
      </p:sp>
      <p:sp>
        <p:nvSpPr>
          <p:cNvPr id="9" name="Text 7"/>
          <p:cNvSpPr/>
          <p:nvPr/>
        </p:nvSpPr>
        <p:spPr>
          <a:xfrm>
            <a:off x="493776" y="134416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01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Discovery</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Understand donor intent</a:t>
            </a:r>
            <a:endParaRPr lang="en-US" sz="850" dirty="0"/>
          </a:p>
        </p:txBody>
      </p:sp>
      <p:sp>
        <p:nvSpPr>
          <p:cNvPr id="10" name="Shape 8"/>
          <p:cNvSpPr/>
          <p:nvPr/>
        </p:nvSpPr>
        <p:spPr>
          <a:xfrm>
            <a:off x="2323033" y="1261872"/>
            <a:ext cx="1810969" cy="841248"/>
          </a:xfrm>
          <a:prstGeom prst="roundRect">
            <a:avLst>
              <a:gd name="adj" fmla="val 6522"/>
            </a:avLst>
          </a:prstGeom>
          <a:solidFill>
            <a:srgbClr val="E57200"/>
          </a:solidFill>
          <a:ln w="12700">
            <a:solidFill>
              <a:srgbClr val="CC6600"/>
            </a:solidFill>
            <a:prstDash val="solid"/>
          </a:ln>
        </p:spPr>
      </p:sp>
      <p:sp>
        <p:nvSpPr>
          <p:cNvPr id="11" name="Text 9"/>
          <p:cNvSpPr/>
          <p:nvPr/>
        </p:nvSpPr>
        <p:spPr>
          <a:xfrm>
            <a:off x="2405329" y="134416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FFFFFF"/>
                </a:solidFill>
                <a:latin typeface="Calibri" pitchFamily="34" charset="0"/>
                <a:ea typeface="Calibri" pitchFamily="34" charset="-122"/>
                <a:cs typeface="Calibri" pitchFamily="34" charset="-120"/>
              </a:rPr>
              <a:t>02   </a:t>
            </a:r>
            <a:pPr indent="0" marL="0">
              <a:lnSpc>
                <a:spcPct val="115000"/>
              </a:lnSpc>
              <a:buNone/>
            </a:pPr>
            <a:r>
              <a:rPr lang="en-US" sz="1000" b="1" dirty="0">
                <a:solidFill>
                  <a:srgbClr val="FFFFFF"/>
                </a:solidFill>
                <a:latin typeface="Calibri" pitchFamily="34" charset="0"/>
                <a:ea typeface="Calibri" pitchFamily="34" charset="-122"/>
                <a:cs typeface="Calibri" pitchFamily="34" charset="-120"/>
              </a:rPr>
              <a:t>Funding Pathway</a:t>
            </a:r>
            <a:endParaRPr lang="en-US" sz="850" dirty="0"/>
          </a:p>
          <a:p>
            <a:pPr indent="0" marL="0">
              <a:lnSpc>
                <a:spcPct val="115000"/>
              </a:lnSpc>
              <a:buNone/>
            </a:pPr>
            <a:r>
              <a:rPr lang="en-US" sz="750" i="1" dirty="0">
                <a:solidFill>
                  <a:srgbClr val="FFF1E0"/>
                </a:solidFill>
                <a:latin typeface="Calibri" pitchFamily="34" charset="0"/>
                <a:ea typeface="Calibri" pitchFamily="34" charset="-122"/>
                <a:cs typeface="Calibri" pitchFamily="34" charset="-120"/>
              </a:rPr>
              <a:t>Gift · Grant · Contract</a:t>
            </a:r>
            <a:endParaRPr lang="en-US" sz="850" dirty="0"/>
          </a:p>
        </p:txBody>
      </p:sp>
      <p:sp>
        <p:nvSpPr>
          <p:cNvPr id="12" name="Shape 10"/>
          <p:cNvSpPr/>
          <p:nvPr/>
        </p:nvSpPr>
        <p:spPr>
          <a:xfrm>
            <a:off x="4234586" y="1261872"/>
            <a:ext cx="1810969" cy="841248"/>
          </a:xfrm>
          <a:prstGeom prst="roundRect">
            <a:avLst>
              <a:gd name="adj" fmla="val 6522"/>
            </a:avLst>
          </a:prstGeom>
          <a:solidFill>
            <a:srgbClr val="FFFFFF"/>
          </a:solidFill>
          <a:ln w="12700">
            <a:solidFill>
              <a:srgbClr val="DADADA"/>
            </a:solidFill>
            <a:prstDash val="solid"/>
          </a:ln>
        </p:spPr>
      </p:sp>
      <p:sp>
        <p:nvSpPr>
          <p:cNvPr id="13" name="Text 11"/>
          <p:cNvSpPr/>
          <p:nvPr/>
        </p:nvSpPr>
        <p:spPr>
          <a:xfrm>
            <a:off x="4316882" y="134416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03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Stakeholder Map</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Assemble the team</a:t>
            </a:r>
            <a:endParaRPr lang="en-US" sz="850" dirty="0"/>
          </a:p>
        </p:txBody>
      </p:sp>
      <p:sp>
        <p:nvSpPr>
          <p:cNvPr id="14" name="Shape 12"/>
          <p:cNvSpPr/>
          <p:nvPr/>
        </p:nvSpPr>
        <p:spPr>
          <a:xfrm>
            <a:off x="6146140" y="1261872"/>
            <a:ext cx="1810969" cy="841248"/>
          </a:xfrm>
          <a:prstGeom prst="roundRect">
            <a:avLst>
              <a:gd name="adj" fmla="val 6522"/>
            </a:avLst>
          </a:prstGeom>
          <a:solidFill>
            <a:srgbClr val="E57200"/>
          </a:solidFill>
          <a:ln w="12700">
            <a:solidFill>
              <a:srgbClr val="CC6600"/>
            </a:solidFill>
            <a:prstDash val="solid"/>
          </a:ln>
        </p:spPr>
      </p:sp>
      <p:sp>
        <p:nvSpPr>
          <p:cNvPr id="15" name="Text 13"/>
          <p:cNvSpPr/>
          <p:nvPr/>
        </p:nvSpPr>
        <p:spPr>
          <a:xfrm>
            <a:off x="6228436" y="134416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FFFFFF"/>
                </a:solidFill>
                <a:latin typeface="Calibri" pitchFamily="34" charset="0"/>
                <a:ea typeface="Calibri" pitchFamily="34" charset="-122"/>
                <a:cs typeface="Calibri" pitchFamily="34" charset="-120"/>
              </a:rPr>
              <a:t>04   </a:t>
            </a:r>
            <a:pPr indent="0" marL="0">
              <a:lnSpc>
                <a:spcPct val="115000"/>
              </a:lnSpc>
              <a:buNone/>
            </a:pPr>
            <a:r>
              <a:rPr lang="en-US" sz="1000" b="1" dirty="0">
                <a:solidFill>
                  <a:srgbClr val="FFFFFF"/>
                </a:solidFill>
                <a:latin typeface="Calibri" pitchFamily="34" charset="0"/>
                <a:ea typeface="Calibri" pitchFamily="34" charset="-122"/>
                <a:cs typeface="Calibri" pitchFamily="34" charset="-120"/>
              </a:rPr>
              <a:t>Complexity Check</a:t>
            </a:r>
            <a:endParaRPr lang="en-US" sz="850" dirty="0"/>
          </a:p>
          <a:p>
            <a:pPr indent="0" marL="0">
              <a:lnSpc>
                <a:spcPct val="115000"/>
              </a:lnSpc>
              <a:buNone/>
            </a:pPr>
            <a:r>
              <a:rPr lang="en-US" sz="750" i="1" dirty="0">
                <a:solidFill>
                  <a:srgbClr val="FFF1E0"/>
                </a:solidFill>
                <a:latin typeface="Calibri" pitchFamily="34" charset="0"/>
                <a:ea typeface="Calibri" pitchFamily="34" charset="-122"/>
                <a:cs typeface="Calibri" pitchFamily="34" charset="-120"/>
              </a:rPr>
              <a:t>Escalate if triggered</a:t>
            </a:r>
            <a:endParaRPr lang="en-US" sz="850" dirty="0"/>
          </a:p>
        </p:txBody>
      </p:sp>
      <p:sp>
        <p:nvSpPr>
          <p:cNvPr id="16" name="Shape 14"/>
          <p:cNvSpPr/>
          <p:nvPr/>
        </p:nvSpPr>
        <p:spPr>
          <a:xfrm>
            <a:off x="8057693" y="1261872"/>
            <a:ext cx="1810969" cy="841248"/>
          </a:xfrm>
          <a:prstGeom prst="roundRect">
            <a:avLst>
              <a:gd name="adj" fmla="val 6522"/>
            </a:avLst>
          </a:prstGeom>
          <a:solidFill>
            <a:srgbClr val="FFFFFF"/>
          </a:solidFill>
          <a:ln w="12700">
            <a:solidFill>
              <a:srgbClr val="DADADA"/>
            </a:solidFill>
            <a:prstDash val="solid"/>
          </a:ln>
        </p:spPr>
      </p:sp>
      <p:sp>
        <p:nvSpPr>
          <p:cNvPr id="17" name="Text 15"/>
          <p:cNvSpPr/>
          <p:nvPr/>
        </p:nvSpPr>
        <p:spPr>
          <a:xfrm>
            <a:off x="8139989" y="134416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05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Compliance Review</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Protect independence</a:t>
            </a:r>
            <a:endParaRPr lang="en-US" sz="850" dirty="0"/>
          </a:p>
        </p:txBody>
      </p:sp>
      <p:sp>
        <p:nvSpPr>
          <p:cNvPr id="18" name="Shape 16"/>
          <p:cNvSpPr/>
          <p:nvPr/>
        </p:nvSpPr>
        <p:spPr>
          <a:xfrm>
            <a:off x="9969246" y="1261872"/>
            <a:ext cx="1810969" cy="841248"/>
          </a:xfrm>
          <a:prstGeom prst="roundRect">
            <a:avLst>
              <a:gd name="adj" fmla="val 6522"/>
            </a:avLst>
          </a:prstGeom>
          <a:solidFill>
            <a:srgbClr val="FFFFFF"/>
          </a:solidFill>
          <a:ln w="12700">
            <a:solidFill>
              <a:srgbClr val="DADADA"/>
            </a:solidFill>
            <a:prstDash val="solid"/>
          </a:ln>
        </p:spPr>
      </p:sp>
      <p:sp>
        <p:nvSpPr>
          <p:cNvPr id="19" name="Text 17"/>
          <p:cNvSpPr/>
          <p:nvPr/>
        </p:nvSpPr>
        <p:spPr>
          <a:xfrm>
            <a:off x="10051542" y="134416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06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Documentation</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Gift Agmt · SOW · COI</a:t>
            </a:r>
            <a:endParaRPr lang="en-US" sz="850" dirty="0"/>
          </a:p>
        </p:txBody>
      </p:sp>
      <p:sp>
        <p:nvSpPr>
          <p:cNvPr id="20" name="Shape 18"/>
          <p:cNvSpPr/>
          <p:nvPr/>
        </p:nvSpPr>
        <p:spPr>
          <a:xfrm>
            <a:off x="2323033" y="2267712"/>
            <a:ext cx="1810969" cy="841248"/>
          </a:xfrm>
          <a:prstGeom prst="roundRect">
            <a:avLst>
              <a:gd name="adj" fmla="val 6522"/>
            </a:avLst>
          </a:prstGeom>
          <a:solidFill>
            <a:srgbClr val="FFFFFF"/>
          </a:solidFill>
          <a:ln w="12700">
            <a:solidFill>
              <a:srgbClr val="DADADA"/>
            </a:solidFill>
            <a:prstDash val="solid"/>
          </a:ln>
        </p:spPr>
      </p:sp>
      <p:sp>
        <p:nvSpPr>
          <p:cNvPr id="21" name="Text 19"/>
          <p:cNvSpPr/>
          <p:nvPr/>
        </p:nvSpPr>
        <p:spPr>
          <a:xfrm>
            <a:off x="2405329" y="235000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07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Financial Review</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Fees · F&amp;A · budget</a:t>
            </a:r>
            <a:endParaRPr lang="en-US" sz="850" dirty="0"/>
          </a:p>
        </p:txBody>
      </p:sp>
      <p:sp>
        <p:nvSpPr>
          <p:cNvPr id="22" name="Shape 20"/>
          <p:cNvSpPr/>
          <p:nvPr/>
        </p:nvSpPr>
        <p:spPr>
          <a:xfrm>
            <a:off x="4234586" y="2267712"/>
            <a:ext cx="1810969" cy="841248"/>
          </a:xfrm>
          <a:prstGeom prst="roundRect">
            <a:avLst>
              <a:gd name="adj" fmla="val 6522"/>
            </a:avLst>
          </a:prstGeom>
          <a:solidFill>
            <a:srgbClr val="FFFFFF"/>
          </a:solidFill>
          <a:ln w="12700">
            <a:solidFill>
              <a:srgbClr val="DADADA"/>
            </a:solidFill>
            <a:prstDash val="solid"/>
          </a:ln>
        </p:spPr>
      </p:sp>
      <p:sp>
        <p:nvSpPr>
          <p:cNvPr id="23" name="Text 21"/>
          <p:cNvSpPr/>
          <p:nvPr/>
        </p:nvSpPr>
        <p:spPr>
          <a:xfrm>
            <a:off x="4316882" y="235000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08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Multi-Institution</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Coordinate partners</a:t>
            </a:r>
            <a:endParaRPr lang="en-US" sz="850" dirty="0"/>
          </a:p>
        </p:txBody>
      </p:sp>
      <p:sp>
        <p:nvSpPr>
          <p:cNvPr id="24" name="Shape 22"/>
          <p:cNvSpPr/>
          <p:nvPr/>
        </p:nvSpPr>
        <p:spPr>
          <a:xfrm>
            <a:off x="6146140" y="2267712"/>
            <a:ext cx="1810969" cy="841248"/>
          </a:xfrm>
          <a:prstGeom prst="roundRect">
            <a:avLst>
              <a:gd name="adj" fmla="val 6522"/>
            </a:avLst>
          </a:prstGeom>
          <a:solidFill>
            <a:srgbClr val="FFFFFF"/>
          </a:solidFill>
          <a:ln w="12700">
            <a:solidFill>
              <a:srgbClr val="DADADA"/>
            </a:solidFill>
            <a:prstDash val="solid"/>
          </a:ln>
        </p:spPr>
      </p:sp>
      <p:sp>
        <p:nvSpPr>
          <p:cNvPr id="25" name="Text 23"/>
          <p:cNvSpPr/>
          <p:nvPr/>
        </p:nvSpPr>
        <p:spPr>
          <a:xfrm>
            <a:off x="6228436" y="235000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09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Accounting &amp; Credit</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Hard · soft · CRM</a:t>
            </a:r>
            <a:endParaRPr lang="en-US" sz="850" dirty="0"/>
          </a:p>
        </p:txBody>
      </p:sp>
      <p:sp>
        <p:nvSpPr>
          <p:cNvPr id="26" name="Shape 24"/>
          <p:cNvSpPr/>
          <p:nvPr/>
        </p:nvSpPr>
        <p:spPr>
          <a:xfrm>
            <a:off x="8057693" y="2267712"/>
            <a:ext cx="1810969" cy="841248"/>
          </a:xfrm>
          <a:prstGeom prst="roundRect">
            <a:avLst>
              <a:gd name="adj" fmla="val 6522"/>
            </a:avLst>
          </a:prstGeom>
          <a:solidFill>
            <a:srgbClr val="FFFFFF"/>
          </a:solidFill>
          <a:ln w="12700">
            <a:solidFill>
              <a:srgbClr val="DADADA"/>
            </a:solidFill>
            <a:prstDash val="solid"/>
          </a:ln>
        </p:spPr>
      </p:sp>
      <p:sp>
        <p:nvSpPr>
          <p:cNvPr id="27" name="Text 25"/>
          <p:cNvSpPr/>
          <p:nvPr/>
        </p:nvSpPr>
        <p:spPr>
          <a:xfrm>
            <a:off x="8139989" y="235000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10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Stewardship</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Not reporting</a:t>
            </a:r>
            <a:endParaRPr lang="en-US" sz="850" dirty="0"/>
          </a:p>
        </p:txBody>
      </p:sp>
      <p:sp>
        <p:nvSpPr>
          <p:cNvPr id="28" name="Shape 26"/>
          <p:cNvSpPr/>
          <p:nvPr/>
        </p:nvSpPr>
        <p:spPr>
          <a:xfrm>
            <a:off x="9969246" y="2267712"/>
            <a:ext cx="1810969" cy="841248"/>
          </a:xfrm>
          <a:prstGeom prst="roundRect">
            <a:avLst>
              <a:gd name="adj" fmla="val 6522"/>
            </a:avLst>
          </a:prstGeom>
          <a:solidFill>
            <a:srgbClr val="FFFFFF"/>
          </a:solidFill>
          <a:ln w="12700">
            <a:solidFill>
              <a:srgbClr val="DADADA"/>
            </a:solidFill>
            <a:prstDash val="solid"/>
          </a:ln>
        </p:spPr>
      </p:sp>
      <p:sp>
        <p:nvSpPr>
          <p:cNvPr id="29" name="Text 27"/>
          <p:cNvSpPr/>
          <p:nvPr/>
        </p:nvSpPr>
        <p:spPr>
          <a:xfrm>
            <a:off x="10051542" y="2350008"/>
            <a:ext cx="1646377" cy="676656"/>
          </a:xfrm>
          <a:prstGeom prst="rect">
            <a:avLst/>
          </a:prstGeom>
          <a:noFill/>
          <a:ln/>
        </p:spPr>
        <p:txBody>
          <a:bodyPr wrap="square" lIns="0" tIns="0" rIns="0" bIns="0" rtlCol="0" anchor="t"/>
          <a:lstStyle/>
          <a:p>
            <a:pPr indent="0" marL="0">
              <a:lnSpc>
                <a:spcPct val="115000"/>
              </a:lnSpc>
              <a:buNone/>
            </a:pPr>
            <a:r>
              <a:rPr lang="en-US" sz="850" b="1" dirty="0">
                <a:solidFill>
                  <a:srgbClr val="E57200"/>
                </a:solidFill>
                <a:latin typeface="Calibri" pitchFamily="34" charset="0"/>
                <a:ea typeface="Calibri" pitchFamily="34" charset="-122"/>
                <a:cs typeface="Calibri" pitchFamily="34" charset="-120"/>
              </a:rPr>
              <a:t>11   </a:t>
            </a:r>
            <a:pPr indent="0" marL="0">
              <a:lnSpc>
                <a:spcPct val="115000"/>
              </a:lnSpc>
              <a:buNone/>
            </a:pPr>
            <a:r>
              <a:rPr lang="en-US" sz="1000" b="1" dirty="0">
                <a:solidFill>
                  <a:srgbClr val="232D4B"/>
                </a:solidFill>
                <a:latin typeface="Calibri" pitchFamily="34" charset="0"/>
                <a:ea typeface="Calibri" pitchFamily="34" charset="-122"/>
                <a:cs typeface="Calibri" pitchFamily="34" charset="-120"/>
              </a:rPr>
              <a:t>Relationship Growth</a:t>
            </a:r>
            <a:endParaRPr lang="en-US" sz="850" dirty="0"/>
          </a:p>
          <a:p>
            <a:pPr indent="0" marL="0">
              <a:lnSpc>
                <a:spcPct val="115000"/>
              </a:lnSpc>
              <a:buNone/>
            </a:pPr>
            <a:r>
              <a:rPr lang="en-US" sz="750" i="1" dirty="0">
                <a:solidFill>
                  <a:srgbClr val="5A6472"/>
                </a:solidFill>
                <a:latin typeface="Calibri" pitchFamily="34" charset="0"/>
                <a:ea typeface="Calibri" pitchFamily="34" charset="-122"/>
                <a:cs typeface="Calibri" pitchFamily="34" charset="-120"/>
              </a:rPr>
              <a:t>Next opportunity</a:t>
            </a:r>
            <a:endParaRPr lang="en-US" sz="850" dirty="0"/>
          </a:p>
        </p:txBody>
      </p:sp>
      <p:sp>
        <p:nvSpPr>
          <p:cNvPr id="30" name="Text 28"/>
          <p:cNvSpPr/>
          <p:nvPr/>
        </p:nvSpPr>
        <p:spPr>
          <a:xfrm>
            <a:off x="411480" y="1060704"/>
            <a:ext cx="914400" cy="164592"/>
          </a:xfrm>
          <a:prstGeom prst="rect">
            <a:avLst/>
          </a:prstGeom>
          <a:noFill/>
          <a:ln/>
        </p:spPr>
        <p:txBody>
          <a:bodyPr wrap="square" lIns="0" tIns="0" rIns="0" bIns="0" rtlCol="0" anchor="ctr"/>
          <a:lstStyle/>
          <a:p>
            <a:pPr indent="0" marL="0">
              <a:buNone/>
            </a:pPr>
            <a:r>
              <a:rPr lang="en-US" sz="750" b="1" spc="80" kern="0" dirty="0">
                <a:solidFill>
                  <a:srgbClr val="8492A6"/>
                </a:solidFill>
                <a:latin typeface="Calibri" pitchFamily="34" charset="0"/>
                <a:ea typeface="Calibri" pitchFamily="34" charset="-122"/>
                <a:cs typeface="Calibri" pitchFamily="34" charset="-120"/>
              </a:rPr>
              <a:t>START</a:t>
            </a:r>
            <a:endParaRPr lang="en-US" sz="750" dirty="0"/>
          </a:p>
        </p:txBody>
      </p:sp>
      <p:sp>
        <p:nvSpPr>
          <p:cNvPr id="31" name="Shape 29"/>
          <p:cNvSpPr/>
          <p:nvPr/>
        </p:nvSpPr>
        <p:spPr>
          <a:xfrm>
            <a:off x="1957273" y="2615184"/>
            <a:ext cx="256032" cy="146304"/>
          </a:xfrm>
          <a:prstGeom prst="leftArrow">
            <a:avLst/>
          </a:prstGeom>
          <a:solidFill>
            <a:srgbClr val="8492A6"/>
          </a:solidFill>
          <a:ln/>
        </p:spPr>
      </p:sp>
      <p:sp>
        <p:nvSpPr>
          <p:cNvPr id="32" name="Text 30"/>
          <p:cNvSpPr/>
          <p:nvPr/>
        </p:nvSpPr>
        <p:spPr>
          <a:xfrm>
            <a:off x="411480" y="3310128"/>
            <a:ext cx="3655466" cy="182880"/>
          </a:xfrm>
          <a:prstGeom prst="rect">
            <a:avLst/>
          </a:prstGeom>
          <a:noFill/>
          <a:ln/>
        </p:spPr>
        <p:txBody>
          <a:bodyPr wrap="square" lIns="0" tIns="0" rIns="0" bIns="0" rtlCol="0" anchor="ctr"/>
          <a:lstStyle/>
          <a:p>
            <a:pPr indent="0" marL="0">
              <a:buNone/>
            </a:pPr>
            <a:r>
              <a:rPr lang="en-US" sz="1000" b="1" spc="40" kern="0" dirty="0">
                <a:solidFill>
                  <a:srgbClr val="232D4B"/>
                </a:solidFill>
                <a:latin typeface="Calibri" pitchFamily="34" charset="0"/>
                <a:ea typeface="Calibri" pitchFamily="34" charset="-122"/>
                <a:cs typeface="Calibri" pitchFamily="34" charset="-120"/>
              </a:rPr>
              <a:t>DECISION GATE — CHOOSE THE FUNDING VEHICLE</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11480" y="3547872"/>
          <a:ext cx="3655466" cy="914400"/>
        </p:xfrm>
        <a:graphic>
          <a:graphicData uri="http://schemas.openxmlformats.org/drawingml/2006/table">
            <a:tbl>
              <a:tblPr/>
              <a:tblGrid>
                <a:gridCol w="1918106"/>
                <a:gridCol w="457200"/>
                <a:gridCol w="640080"/>
                <a:gridCol w="640080"/>
              </a:tblGrid>
              <a:tr h="329184">
                <a:tc>
                  <a:txBody>
                    <a:bodyPr/>
                    <a:lstStyle/>
                    <a:p>
                      <a:pPr indent="0" marL="0">
                        <a:buNone/>
                      </a:pPr>
                      <a:r>
                        <a:rPr lang="en-US" sz="800" b="1" dirty="0">
                          <a:solidFill>
                            <a:srgbClr val="FFFFFF"/>
                          </a:solidFill>
                        </a:rPr>
                        <a:t>Criterion</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232D4B"/>
                    </a:solidFill>
                  </a:tcPr>
                </a:tc>
                <a:tc>
                  <a:txBody>
                    <a:bodyPr/>
                    <a:lstStyle/>
                    <a:p>
                      <a:pPr algn="ctr" indent="0" marL="0">
                        <a:buNone/>
                      </a:pPr>
                      <a:r>
                        <a:rPr lang="en-US" sz="800" b="1" dirty="0">
                          <a:solidFill>
                            <a:srgbClr val="FFFFFF"/>
                          </a:solidFill>
                        </a:rPr>
                        <a:t>Gift</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232D4B"/>
                    </a:solidFill>
                  </a:tcPr>
                </a:tc>
                <a:tc>
                  <a:txBody>
                    <a:bodyPr/>
                    <a:lstStyle/>
                    <a:p>
                      <a:pPr algn="ctr" indent="0" marL="0">
                        <a:buNone/>
                      </a:pPr>
                      <a:r>
                        <a:rPr lang="en-US" sz="750" b="1" dirty="0">
                          <a:solidFill>
                            <a:srgbClr val="FFFFFF"/>
                          </a:solidFill>
                        </a:rPr>
                        <a:t>Sponsored</a:t>
                      </a:r>
                      <a:endParaRPr lang="en-US" sz="750" dirty="0"/>
                    </a:p>
                    <a:p>
                      <a:pPr algn="ctr" indent="0" marL="0">
                        <a:buNone/>
                      </a:pPr>
                      <a:r>
                        <a:rPr lang="en-US" sz="750" b="1" dirty="0">
                          <a:solidFill>
                            <a:srgbClr val="FFFFFF"/>
                          </a:solidFill>
                        </a:rPr>
                        <a:t>Research</a:t>
                      </a:r>
                      <a:endParaRPr lang="en-US" sz="7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232D4B"/>
                    </a:solidFill>
                  </a:tcPr>
                </a:tc>
                <a:tc>
                  <a:txBody>
                    <a:bodyPr/>
                    <a:lstStyle/>
                    <a:p>
                      <a:pPr algn="ctr" indent="0" marL="0">
                        <a:buNone/>
                      </a:pPr>
                      <a:r>
                        <a:rPr lang="en-US" sz="750" b="1" dirty="0">
                          <a:solidFill>
                            <a:srgbClr val="FFFFFF"/>
                          </a:solidFill>
                        </a:rPr>
                        <a:t>Contract</a:t>
                      </a:r>
                      <a:endParaRPr lang="en-US" sz="7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232D4B"/>
                    </a:solidFill>
                  </a:tcPr>
                </a:tc>
              </a:tr>
              <a:tr h="201168">
                <a:tc>
                  <a:txBody>
                    <a:bodyPr/>
                    <a:lstStyle/>
                    <a:p>
                      <a:pPr indent="0" marL="0">
                        <a:buNone/>
                      </a:pPr>
                      <a:r>
                        <a:rPr lang="en-US" sz="800" dirty="0">
                          <a:solidFill>
                            <a:srgbClr val="232D4B"/>
                          </a:solidFill>
                        </a:rPr>
                        <a:t>Unrestricted support</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62BB46"/>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r>
              <a:tr h="201168">
                <a:tc>
                  <a:txBody>
                    <a:bodyPr/>
                    <a:lstStyle/>
                    <a:p>
                      <a:pPr indent="0" marL="0">
                        <a:buNone/>
                      </a:pPr>
                      <a:r>
                        <a:rPr lang="en-US" sz="800" dirty="0">
                          <a:solidFill>
                            <a:srgbClr val="232D4B"/>
                          </a:solidFill>
                        </a:rPr>
                        <a:t>Specific deliverables</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r>
                        <a:rPr lang="en-US" sz="950" b="1" dirty="0">
                          <a:solidFill>
                            <a:srgbClr val="009FDF"/>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r>
                        <a:rPr lang="en-US" sz="950" b="1" dirty="0">
                          <a:solidFill>
                            <a:srgbClr val="EF3F6B"/>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r>
              <a:tr h="201168">
                <a:tc>
                  <a:txBody>
                    <a:bodyPr/>
                    <a:lstStyle/>
                    <a:p>
                      <a:pPr indent="0" marL="0">
                        <a:buNone/>
                      </a:pPr>
                      <a:r>
                        <a:rPr lang="en-US" sz="800" dirty="0">
                          <a:solidFill>
                            <a:srgbClr val="232D4B"/>
                          </a:solidFill>
                        </a:rPr>
                        <a:t>Publication restrictions</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9FDF"/>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F3F6B"/>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r>
              <a:tr h="201168">
                <a:tc>
                  <a:txBody>
                    <a:bodyPr/>
                    <a:lstStyle/>
                    <a:p>
                      <a:pPr indent="0" marL="0">
                        <a:buNone/>
                      </a:pPr>
                      <a:r>
                        <a:rPr lang="en-US" sz="800" dirty="0">
                          <a:solidFill>
                            <a:srgbClr val="232D4B"/>
                          </a:solidFill>
                        </a:rPr>
                        <a:t>IP expectations</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r>
                        <a:rPr lang="en-US" sz="950" b="1" dirty="0">
                          <a:solidFill>
                            <a:srgbClr val="009FDF"/>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r>
                        <a:rPr lang="en-US" sz="950" b="1" dirty="0">
                          <a:solidFill>
                            <a:srgbClr val="EF3F6B"/>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r>
              <a:tr h="201168">
                <a:tc>
                  <a:txBody>
                    <a:bodyPr/>
                    <a:lstStyle/>
                    <a:p>
                      <a:pPr indent="0" marL="0">
                        <a:buNone/>
                      </a:pPr>
                      <a:r>
                        <a:rPr lang="en-US" sz="800" dirty="0">
                          <a:solidFill>
                            <a:srgbClr val="232D4B"/>
                          </a:solidFill>
                        </a:rPr>
                        <a:t>Donor directs research</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09FDF"/>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F3F6B"/>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FFFFF"/>
                    </a:solidFill>
                  </a:tcPr>
                </a:tc>
              </a:tr>
              <a:tr h="201168">
                <a:tc>
                  <a:txBody>
                    <a:bodyPr/>
                    <a:lstStyle/>
                    <a:p>
                      <a:pPr indent="0" marL="0">
                        <a:buNone/>
                      </a:pPr>
                      <a:r>
                        <a:rPr lang="en-US" sz="800" dirty="0">
                          <a:solidFill>
                            <a:srgbClr val="232D4B"/>
                          </a:solidFill>
                        </a:rPr>
                        <a:t>General stewardship only</a:t>
                      </a:r>
                      <a:endParaRPr lang="en-US" sz="80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r>
                        <a:rPr lang="en-US" sz="950" b="1" dirty="0">
                          <a:solidFill>
                            <a:srgbClr val="62BB46"/>
                          </a:solidFill>
                        </a:rPr>
                        <a:t>✓</a:t>
                      </a: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c>
                  <a:txBody>
                    <a:bodyPr/>
                    <a:lstStyle/>
                    <a:p>
                      <a:pPr algn="ctr" indent="0" marL="0">
                        <a:buNone/>
                      </a:pPr>
                      <a:endParaRPr lang="en-US" sz="950" dirty="0"/>
                    </a:p>
                  </a:txBody>
                  <a:tcPr marL="91440" marR="91440" marT="45720" marB="45720" anchor="ctr">
                    <a:lnL w="6350" cap="flat" cmpd="sng" algn="ctr">
                      <a:solidFill>
                        <a:srgbClr val="DADADA"/>
                      </a:solidFill>
                      <a:prstDash val="solid"/>
                      <a:round/>
                      <a:headEnd type="none" w="med" len="med"/>
                      <a:tailEnd type="none" w="med" len="med"/>
                    </a:lnL>
                    <a:lnR w="6350" cap="flat" cmpd="sng" algn="ctr">
                      <a:solidFill>
                        <a:srgbClr val="DADADA"/>
                      </a:solidFill>
                      <a:prstDash val="solid"/>
                      <a:round/>
                      <a:headEnd type="none" w="med" len="med"/>
                      <a:tailEnd type="none" w="med" len="med"/>
                    </a:lnR>
                    <a:lnT w="6350" cap="flat" cmpd="sng" algn="ctr">
                      <a:solidFill>
                        <a:srgbClr val="DADADA"/>
                      </a:solidFill>
                      <a:prstDash val="solid"/>
                      <a:round/>
                      <a:headEnd type="none" w="med" len="med"/>
                      <a:tailEnd type="none" w="med" len="med"/>
                    </a:lnT>
                    <a:lnB w="6350" cap="flat" cmpd="sng" algn="ctr">
                      <a:solidFill>
                        <a:srgbClr val="DADADA"/>
                      </a:solidFill>
                      <a:prstDash val="solid"/>
                      <a:round/>
                      <a:headEnd type="none" w="med" len="med"/>
                      <a:tailEnd type="none" w="med" len="med"/>
                    </a:lnB>
                    <a:solidFill>
                      <a:srgbClr val="F7F7F5"/>
                    </a:solidFill>
                  </a:tcPr>
                </a:tc>
              </a:tr>
            </a:tbl>
          </a:graphicData>
        </a:graphic>
      </p:graphicFrame>
      <p:sp>
        <p:nvSpPr>
          <p:cNvPr id="34" name="Shape 31"/>
          <p:cNvSpPr/>
          <p:nvPr/>
        </p:nvSpPr>
        <p:spPr>
          <a:xfrm>
            <a:off x="411480" y="5175504"/>
            <a:ext cx="3655466" cy="841248"/>
          </a:xfrm>
          <a:prstGeom prst="roundRect">
            <a:avLst>
              <a:gd name="adj" fmla="val 5435"/>
            </a:avLst>
          </a:prstGeom>
          <a:solidFill>
            <a:srgbClr val="E7E9F0"/>
          </a:solidFill>
          <a:ln/>
        </p:spPr>
      </p:sp>
      <p:sp>
        <p:nvSpPr>
          <p:cNvPr id="35" name="Text 32"/>
          <p:cNvSpPr/>
          <p:nvPr/>
        </p:nvSpPr>
        <p:spPr>
          <a:xfrm>
            <a:off x="539496" y="5248656"/>
            <a:ext cx="3399434" cy="694944"/>
          </a:xfrm>
          <a:prstGeom prst="rect">
            <a:avLst/>
          </a:prstGeom>
          <a:noFill/>
          <a:ln/>
        </p:spPr>
        <p:txBody>
          <a:bodyPr wrap="square" lIns="0" tIns="0" rIns="0" bIns="0" rtlCol="0" anchor="t"/>
          <a:lstStyle/>
          <a:p>
            <a:pPr indent="0" marL="0">
              <a:lnSpc>
                <a:spcPct val="110000"/>
              </a:lnSpc>
              <a:spcAft>
                <a:spcPts val="300"/>
              </a:spcAft>
              <a:buNone/>
            </a:pPr>
            <a:r>
              <a:rPr lang="en-US" sz="800" b="1" dirty="0">
                <a:solidFill>
                  <a:srgbClr val="232D4B"/>
                </a:solidFill>
                <a:latin typeface="Calibri" pitchFamily="34" charset="0"/>
                <a:ea typeface="Calibri" pitchFamily="34" charset="-122"/>
                <a:cs typeface="Calibri" pitchFamily="34" charset="-120"/>
              </a:rPr>
              <a:t>SOW should include  </a:t>
            </a:r>
            <a:endParaRPr lang="en-US" sz="800" dirty="0"/>
          </a:p>
          <a:p>
            <a:pPr indent="0" marL="0">
              <a:lnSpc>
                <a:spcPct val="110000"/>
              </a:lnSpc>
              <a:spcAft>
                <a:spcPts val="300"/>
              </a:spcAft>
              <a:buNone/>
            </a:pPr>
            <a:r>
              <a:rPr lang="en-US" sz="770" dirty="0">
                <a:solidFill>
                  <a:srgbClr val="5A6472"/>
                </a:solidFill>
                <a:latin typeface="Calibri" pitchFamily="34" charset="0"/>
                <a:ea typeface="Calibri" pitchFamily="34" charset="-122"/>
                <a:cs typeface="Calibri" pitchFamily="34" charset="-120"/>
              </a:rPr>
              <a:t>Research objectives, themes, scope, faculty collaboration, general use of funds.</a:t>
            </a:r>
            <a:endParaRPr lang="en-US" sz="800" dirty="0"/>
          </a:p>
          <a:p>
            <a:pPr indent="0" marL="0">
              <a:lnSpc>
                <a:spcPct val="110000"/>
              </a:lnSpc>
              <a:spcAft>
                <a:spcPts val="300"/>
              </a:spcAft>
              <a:buNone/>
            </a:pPr>
            <a:r>
              <a:rPr lang="en-US" sz="800" b="1" dirty="0">
                <a:solidFill>
                  <a:srgbClr val="EF3F6B"/>
                </a:solidFill>
                <a:latin typeface="Calibri" pitchFamily="34" charset="0"/>
                <a:ea typeface="Calibri" pitchFamily="34" charset="-122"/>
                <a:cs typeface="Calibri" pitchFamily="34" charset="-120"/>
              </a:rPr>
              <a:t>SOW should avoid  </a:t>
            </a:r>
            <a:endParaRPr lang="en-US" sz="800" dirty="0"/>
          </a:p>
          <a:p>
            <a:pPr indent="0" marL="0">
              <a:lnSpc>
                <a:spcPct val="110000"/>
              </a:lnSpc>
              <a:spcAft>
                <a:spcPts val="300"/>
              </a:spcAft>
              <a:buNone/>
            </a:pPr>
            <a:r>
              <a:rPr lang="en-US" sz="770" dirty="0">
                <a:solidFill>
                  <a:srgbClr val="5A6472"/>
                </a:solidFill>
                <a:latin typeface="Calibri" pitchFamily="34" charset="0"/>
                <a:ea typeface="Calibri" pitchFamily="34" charset="-122"/>
                <a:cs typeface="Calibri" pitchFamily="34" charset="-120"/>
              </a:rPr>
              <a:t>Deliverables, milestones, deadlines, sponsor direction, publication requirements.</a:t>
            </a:r>
            <a:endParaRPr lang="en-US" sz="800" dirty="0"/>
          </a:p>
        </p:txBody>
      </p:sp>
      <p:sp>
        <p:nvSpPr>
          <p:cNvPr id="36" name="Text 33"/>
          <p:cNvSpPr/>
          <p:nvPr/>
        </p:nvSpPr>
        <p:spPr>
          <a:xfrm>
            <a:off x="4268114" y="3310128"/>
            <a:ext cx="3655466" cy="182880"/>
          </a:xfrm>
          <a:prstGeom prst="rect">
            <a:avLst/>
          </a:prstGeom>
          <a:noFill/>
          <a:ln/>
        </p:spPr>
        <p:txBody>
          <a:bodyPr wrap="square" lIns="0" tIns="0" rIns="0" bIns="0" rtlCol="0" anchor="ctr"/>
          <a:lstStyle/>
          <a:p>
            <a:pPr indent="0" marL="0">
              <a:buNone/>
            </a:pPr>
            <a:r>
              <a:rPr lang="en-US" sz="1000" b="1" spc="40" kern="0" dirty="0">
                <a:solidFill>
                  <a:srgbClr val="232D4B"/>
                </a:solidFill>
                <a:latin typeface="Calibri" pitchFamily="34" charset="0"/>
                <a:ea typeface="Calibri" pitchFamily="34" charset="-122"/>
                <a:cs typeface="Calibri" pitchFamily="34" charset="-120"/>
              </a:rPr>
              <a:t>STAKEHOLDER CHAIN — ONE CFR LEAD QUARTERBACKS</a:t>
            </a:r>
            <a:endParaRPr lang="en-US" sz="1000" dirty="0"/>
          </a:p>
        </p:txBody>
      </p:sp>
      <p:sp>
        <p:nvSpPr>
          <p:cNvPr id="37" name="Shape 34"/>
          <p:cNvSpPr/>
          <p:nvPr/>
        </p:nvSpPr>
        <p:spPr>
          <a:xfrm>
            <a:off x="4268114" y="3547872"/>
            <a:ext cx="3655466" cy="1051560"/>
          </a:xfrm>
          <a:prstGeom prst="roundRect">
            <a:avLst>
              <a:gd name="adj" fmla="val 4348"/>
            </a:avLst>
          </a:prstGeom>
          <a:solidFill>
            <a:srgbClr val="FFFFFF"/>
          </a:solidFill>
          <a:ln w="9525">
            <a:solidFill>
              <a:srgbClr val="DADADA"/>
            </a:solidFill>
            <a:prstDash val="solid"/>
          </a:ln>
        </p:spPr>
      </p:sp>
      <p:sp>
        <p:nvSpPr>
          <p:cNvPr id="38" name="Text 35"/>
          <p:cNvSpPr/>
          <p:nvPr/>
        </p:nvSpPr>
        <p:spPr>
          <a:xfrm>
            <a:off x="4396130" y="3630168"/>
            <a:ext cx="1644853" cy="886968"/>
          </a:xfrm>
          <a:prstGeom prst="rect">
            <a:avLst/>
          </a:prstGeom>
          <a:noFill/>
          <a:ln/>
        </p:spPr>
        <p:txBody>
          <a:bodyPr wrap="square" lIns="0" tIns="0" rIns="0" bIns="0" rtlCol="0" anchor="t"/>
          <a:lstStyle/>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1. Corporate Relations</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2. Development Officer</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3. Dept. Leadership</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4. Health Development*</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5. Office of Sponsored Programs</a:t>
            </a:r>
            <a:endParaRPr lang="en-US" sz="780" dirty="0"/>
          </a:p>
        </p:txBody>
      </p:sp>
      <p:sp>
        <p:nvSpPr>
          <p:cNvPr id="39" name="Text 36"/>
          <p:cNvSpPr/>
          <p:nvPr/>
        </p:nvSpPr>
        <p:spPr>
          <a:xfrm>
            <a:off x="6095848" y="3630168"/>
            <a:ext cx="1644853" cy="886968"/>
          </a:xfrm>
          <a:prstGeom prst="rect">
            <a:avLst/>
          </a:prstGeom>
          <a:noFill/>
          <a:ln/>
        </p:spPr>
        <p:txBody>
          <a:bodyPr wrap="square" lIns="0" tIns="0" rIns="0" bIns="0" rtlCol="0" anchor="t"/>
          <a:lstStyle/>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6. Gift Administration</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7. Finance</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8. Legal</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9. Research Administration</a:t>
            </a:r>
            <a:endParaRPr lang="en-US" sz="780" dirty="0"/>
          </a:p>
          <a:p>
            <a:pPr indent="0" marL="0">
              <a:lnSpc>
                <a:spcPct val="135000"/>
              </a:lnSpc>
              <a:buNone/>
            </a:pPr>
            <a:r>
              <a:rPr lang="en-US" sz="780" b="1" dirty="0">
                <a:solidFill>
                  <a:srgbClr val="232D4B"/>
                </a:solidFill>
                <a:latin typeface="Calibri" pitchFamily="34" charset="0"/>
                <a:ea typeface="Calibri" pitchFamily="34" charset="-122"/>
                <a:cs typeface="Calibri" pitchFamily="34" charset="-120"/>
              </a:rPr>
              <a:t>10. Collaborating Institution</a:t>
            </a:r>
            <a:endParaRPr lang="en-US" sz="780" dirty="0"/>
          </a:p>
        </p:txBody>
      </p:sp>
      <p:sp>
        <p:nvSpPr>
          <p:cNvPr id="40" name="Text 37"/>
          <p:cNvSpPr/>
          <p:nvPr/>
        </p:nvSpPr>
        <p:spPr>
          <a:xfrm>
            <a:off x="4268114" y="4626864"/>
            <a:ext cx="3655466" cy="201168"/>
          </a:xfrm>
          <a:prstGeom prst="rect">
            <a:avLst/>
          </a:prstGeom>
          <a:noFill/>
          <a:ln/>
        </p:spPr>
        <p:txBody>
          <a:bodyPr wrap="square" lIns="0" tIns="0" rIns="0" bIns="0" rtlCol="0" anchor="ctr"/>
          <a:lstStyle/>
          <a:p>
            <a:pPr indent="0" marL="0">
              <a:buNone/>
            </a:pPr>
            <a:r>
              <a:rPr lang="en-US" sz="680" i="1" dirty="0">
                <a:solidFill>
                  <a:srgbClr val="8492A6"/>
                </a:solidFill>
                <a:latin typeface="Calibri" pitchFamily="34" charset="0"/>
                <a:ea typeface="Calibri" pitchFamily="34" charset="-122"/>
                <a:cs typeface="Calibri" pitchFamily="34" charset="-120"/>
              </a:rPr>
              <a:t>*if applicable — each link has an assigned owner: relationship, agreement, budget, compliance, accounting, or stewardship lead.</a:t>
            </a:r>
            <a:endParaRPr lang="en-US" sz="680" dirty="0"/>
          </a:p>
        </p:txBody>
      </p:sp>
      <p:sp>
        <p:nvSpPr>
          <p:cNvPr id="41" name="Shape 38"/>
          <p:cNvSpPr/>
          <p:nvPr/>
        </p:nvSpPr>
        <p:spPr>
          <a:xfrm>
            <a:off x="4268114" y="4855464"/>
            <a:ext cx="3655466" cy="1179576"/>
          </a:xfrm>
          <a:prstGeom prst="roundRect">
            <a:avLst>
              <a:gd name="adj" fmla="val 3876"/>
            </a:avLst>
          </a:prstGeom>
          <a:solidFill>
            <a:srgbClr val="FCE8D5"/>
          </a:solidFill>
          <a:ln w="9525">
            <a:solidFill>
              <a:srgbClr val="E57200"/>
            </a:solidFill>
            <a:prstDash val="solid"/>
          </a:ln>
        </p:spPr>
      </p:sp>
      <p:sp>
        <p:nvSpPr>
          <p:cNvPr id="42" name="Text 39"/>
          <p:cNvSpPr/>
          <p:nvPr/>
        </p:nvSpPr>
        <p:spPr>
          <a:xfrm>
            <a:off x="4396130" y="4928616"/>
            <a:ext cx="3399434" cy="164592"/>
          </a:xfrm>
          <a:prstGeom prst="rect">
            <a:avLst/>
          </a:prstGeom>
          <a:noFill/>
          <a:ln/>
        </p:spPr>
        <p:txBody>
          <a:bodyPr wrap="square" lIns="0" tIns="0" rIns="0" bIns="0" rtlCol="0" anchor="ctr"/>
          <a:lstStyle/>
          <a:p>
            <a:pPr indent="0" marL="0">
              <a:buNone/>
            </a:pPr>
            <a:r>
              <a:rPr lang="en-US" sz="800" b="1" dirty="0">
                <a:solidFill>
                  <a:srgbClr val="CC6600"/>
                </a:solidFill>
                <a:latin typeface="Calibri" pitchFamily="34" charset="0"/>
                <a:ea typeface="Calibri" pitchFamily="34" charset="-122"/>
                <a:cs typeface="Calibri" pitchFamily="34" charset="-120"/>
              </a:rPr>
              <a:t>ESCALATE IMMEDIATELY IF THE GIFT INVOLVES:</a:t>
            </a:r>
            <a:endParaRPr lang="en-US" sz="800" dirty="0"/>
          </a:p>
        </p:txBody>
      </p:sp>
      <p:sp>
        <p:nvSpPr>
          <p:cNvPr id="43" name="Text 40"/>
          <p:cNvSpPr/>
          <p:nvPr/>
        </p:nvSpPr>
        <p:spPr>
          <a:xfrm>
            <a:off x="4396130" y="5111496"/>
            <a:ext cx="3399434" cy="850392"/>
          </a:xfrm>
          <a:prstGeom prst="rect">
            <a:avLst/>
          </a:prstGeom>
          <a:noFill/>
          <a:ln/>
        </p:spPr>
        <p:txBody>
          <a:bodyPr wrap="square" lIns="0" tIns="0" rIns="0" bIns="0" rtlCol="0" anchor="t"/>
          <a:lstStyle/>
          <a:p>
            <a:pPr indent="0" marL="0">
              <a:lnSpc>
                <a:spcPct val="125000"/>
              </a:lnSpc>
              <a:buNone/>
            </a:pPr>
            <a:r>
              <a:rPr lang="en-US" sz="790" dirty="0">
                <a:solidFill>
                  <a:srgbClr val="232D4B"/>
                </a:solidFill>
                <a:latin typeface="Calibri" pitchFamily="34" charset="0"/>
                <a:ea typeface="Calibri" pitchFamily="34" charset="-122"/>
                <a:cs typeface="Calibri" pitchFamily="34" charset="-120"/>
              </a:rPr>
              <a:t>Multiple institutions · Industry partner · International entity · Human subjects · Export controls · Intellectual property · Existing equity · Conflict of interest · Licensing · Technology transfer · Multiple funding entities · Pass-through funding</a:t>
            </a:r>
            <a:endParaRPr lang="en-US" sz="790" dirty="0"/>
          </a:p>
        </p:txBody>
      </p:sp>
      <p:sp>
        <p:nvSpPr>
          <p:cNvPr id="44" name="Text 41"/>
          <p:cNvSpPr/>
          <p:nvPr/>
        </p:nvSpPr>
        <p:spPr>
          <a:xfrm>
            <a:off x="8124749" y="3310128"/>
            <a:ext cx="3655466" cy="182880"/>
          </a:xfrm>
          <a:prstGeom prst="rect">
            <a:avLst/>
          </a:prstGeom>
          <a:noFill/>
          <a:ln/>
        </p:spPr>
        <p:txBody>
          <a:bodyPr wrap="square" lIns="0" tIns="0" rIns="0" bIns="0" rtlCol="0" anchor="ctr"/>
          <a:lstStyle/>
          <a:p>
            <a:pPr indent="0" marL="0">
              <a:buNone/>
            </a:pPr>
            <a:r>
              <a:rPr lang="en-US" sz="1000" b="1" spc="40" kern="0" dirty="0">
                <a:solidFill>
                  <a:srgbClr val="232D4B"/>
                </a:solidFill>
                <a:latin typeface="Calibri" pitchFamily="34" charset="0"/>
                <a:ea typeface="Calibri" pitchFamily="34" charset="-122"/>
                <a:cs typeface="Calibri" pitchFamily="34" charset="-120"/>
              </a:rPr>
              <a:t>LESSONS LEARNED — PBM CAPITAL GIFT</a:t>
            </a:r>
            <a:endParaRPr lang="en-US" sz="1000" dirty="0"/>
          </a:p>
        </p:txBody>
      </p:sp>
      <p:sp>
        <p:nvSpPr>
          <p:cNvPr id="45" name="Shape 42"/>
          <p:cNvSpPr/>
          <p:nvPr/>
        </p:nvSpPr>
        <p:spPr>
          <a:xfrm>
            <a:off x="8124749" y="3547872"/>
            <a:ext cx="3655466" cy="437083"/>
          </a:xfrm>
          <a:prstGeom prst="roundRect">
            <a:avLst>
              <a:gd name="adj" fmla="val 8368"/>
            </a:avLst>
          </a:prstGeom>
          <a:solidFill>
            <a:srgbClr val="FFFFFF"/>
          </a:solidFill>
          <a:ln w="6350">
            <a:solidFill>
              <a:srgbClr val="DADADA"/>
            </a:solidFill>
            <a:prstDash val="solid"/>
          </a:ln>
        </p:spPr>
      </p:sp>
      <p:sp>
        <p:nvSpPr>
          <p:cNvPr id="46" name="Shape 43"/>
          <p:cNvSpPr/>
          <p:nvPr/>
        </p:nvSpPr>
        <p:spPr>
          <a:xfrm>
            <a:off x="8207045" y="3725266"/>
            <a:ext cx="82296" cy="82296"/>
          </a:xfrm>
          <a:prstGeom prst="oval">
            <a:avLst/>
          </a:prstGeom>
          <a:solidFill>
            <a:srgbClr val="E57200"/>
          </a:solidFill>
          <a:ln/>
        </p:spPr>
      </p:sp>
      <p:sp>
        <p:nvSpPr>
          <p:cNvPr id="47" name="Text 44"/>
          <p:cNvSpPr/>
          <p:nvPr/>
        </p:nvSpPr>
        <p:spPr>
          <a:xfrm>
            <a:off x="8362493" y="3575304"/>
            <a:ext cx="3326282" cy="382219"/>
          </a:xfrm>
          <a:prstGeom prst="rect">
            <a:avLst/>
          </a:prstGeom>
          <a:noFill/>
          <a:ln/>
        </p:spPr>
        <p:txBody>
          <a:bodyPr wrap="square" lIns="0" tIns="0" rIns="0" bIns="0" rtlCol="0" anchor="t"/>
          <a:lstStyle/>
          <a:p>
            <a:pPr indent="0" marL="0">
              <a:lnSpc>
                <a:spcPct val="108000"/>
              </a:lnSpc>
              <a:buNone/>
            </a:pPr>
            <a:r>
              <a:rPr lang="en-US" sz="760" b="1" dirty="0">
                <a:solidFill>
                  <a:srgbClr val="232D4B"/>
                </a:solidFill>
                <a:latin typeface="Calibri" pitchFamily="34" charset="0"/>
                <a:ea typeface="Calibri" pitchFamily="34" charset="-122"/>
                <a:cs typeface="Calibri" pitchFamily="34" charset="-120"/>
              </a:rPr>
              <a:t>Donor intent changed over time.</a:t>
            </a:r>
            <a:endParaRPr lang="en-US" sz="760" dirty="0"/>
          </a:p>
          <a:p>
            <a:pPr indent="0" marL="0">
              <a:lnSpc>
                <a:spcPct val="108000"/>
              </a:lnSpc>
              <a:buNone/>
            </a:pPr>
            <a:r>
              <a:rPr lang="en-US" sz="760" dirty="0">
                <a:solidFill>
                  <a:srgbClr val="5A6472"/>
                </a:solidFill>
                <a:latin typeface="Calibri" pitchFamily="34" charset="0"/>
                <a:ea typeface="Calibri" pitchFamily="34" charset="-122"/>
                <a:cs typeface="Calibri" pitchFamily="34" charset="-120"/>
              </a:rPr>
              <a:t>→ Revisit donor motivation throughout the process.</a:t>
            </a:r>
            <a:endParaRPr lang="en-US" sz="760" dirty="0"/>
          </a:p>
        </p:txBody>
      </p:sp>
      <p:sp>
        <p:nvSpPr>
          <p:cNvPr id="48" name="Shape 45"/>
          <p:cNvSpPr/>
          <p:nvPr/>
        </p:nvSpPr>
        <p:spPr>
          <a:xfrm>
            <a:off x="8124749" y="4048963"/>
            <a:ext cx="3655466" cy="437083"/>
          </a:xfrm>
          <a:prstGeom prst="roundRect">
            <a:avLst>
              <a:gd name="adj" fmla="val 8368"/>
            </a:avLst>
          </a:prstGeom>
          <a:solidFill>
            <a:srgbClr val="F7F7F5"/>
          </a:solidFill>
          <a:ln w="6350">
            <a:solidFill>
              <a:srgbClr val="DADADA"/>
            </a:solidFill>
            <a:prstDash val="solid"/>
          </a:ln>
        </p:spPr>
      </p:sp>
      <p:sp>
        <p:nvSpPr>
          <p:cNvPr id="49" name="Shape 46"/>
          <p:cNvSpPr/>
          <p:nvPr/>
        </p:nvSpPr>
        <p:spPr>
          <a:xfrm>
            <a:off x="8207045" y="4226357"/>
            <a:ext cx="82296" cy="82296"/>
          </a:xfrm>
          <a:prstGeom prst="oval">
            <a:avLst/>
          </a:prstGeom>
          <a:solidFill>
            <a:srgbClr val="E57200"/>
          </a:solidFill>
          <a:ln/>
        </p:spPr>
      </p:sp>
      <p:sp>
        <p:nvSpPr>
          <p:cNvPr id="50" name="Text 47"/>
          <p:cNvSpPr/>
          <p:nvPr/>
        </p:nvSpPr>
        <p:spPr>
          <a:xfrm>
            <a:off x="8362493" y="4076395"/>
            <a:ext cx="3326282" cy="382219"/>
          </a:xfrm>
          <a:prstGeom prst="rect">
            <a:avLst/>
          </a:prstGeom>
          <a:noFill/>
          <a:ln/>
        </p:spPr>
        <p:txBody>
          <a:bodyPr wrap="square" lIns="0" tIns="0" rIns="0" bIns="0" rtlCol="0" anchor="t"/>
          <a:lstStyle/>
          <a:p>
            <a:pPr indent="0" marL="0">
              <a:lnSpc>
                <a:spcPct val="108000"/>
              </a:lnSpc>
              <a:buNone/>
            </a:pPr>
            <a:r>
              <a:rPr lang="en-US" sz="760" b="1" dirty="0">
                <a:solidFill>
                  <a:srgbClr val="232D4B"/>
                </a:solidFill>
                <a:latin typeface="Calibri" pitchFamily="34" charset="0"/>
                <a:ea typeface="Calibri" pitchFamily="34" charset="-122"/>
                <a:cs typeface="Calibri" pitchFamily="34" charset="-120"/>
              </a:rPr>
              <a:t>OSP became a critical partner.</a:t>
            </a:r>
            <a:endParaRPr lang="en-US" sz="760" dirty="0"/>
          </a:p>
          <a:p>
            <a:pPr indent="0" marL="0">
              <a:lnSpc>
                <a:spcPct val="108000"/>
              </a:lnSpc>
              <a:buNone/>
            </a:pPr>
            <a:r>
              <a:rPr lang="en-US" sz="760" dirty="0">
                <a:solidFill>
                  <a:srgbClr val="5A6472"/>
                </a:solidFill>
                <a:latin typeface="Calibri" pitchFamily="34" charset="0"/>
                <a:ea typeface="Calibri" pitchFamily="34" charset="-122"/>
                <a:cs typeface="Calibri" pitchFamily="34" charset="-120"/>
              </a:rPr>
              <a:t>→ Engage OSP early for any research-related industry gift.</a:t>
            </a:r>
            <a:endParaRPr lang="en-US" sz="760" dirty="0"/>
          </a:p>
        </p:txBody>
      </p:sp>
      <p:sp>
        <p:nvSpPr>
          <p:cNvPr id="51" name="Shape 48"/>
          <p:cNvSpPr/>
          <p:nvPr/>
        </p:nvSpPr>
        <p:spPr>
          <a:xfrm>
            <a:off x="8124749" y="4550054"/>
            <a:ext cx="3655466" cy="437083"/>
          </a:xfrm>
          <a:prstGeom prst="roundRect">
            <a:avLst>
              <a:gd name="adj" fmla="val 8368"/>
            </a:avLst>
          </a:prstGeom>
          <a:solidFill>
            <a:srgbClr val="FFFFFF"/>
          </a:solidFill>
          <a:ln w="6350">
            <a:solidFill>
              <a:srgbClr val="DADADA"/>
            </a:solidFill>
            <a:prstDash val="solid"/>
          </a:ln>
        </p:spPr>
      </p:sp>
      <p:sp>
        <p:nvSpPr>
          <p:cNvPr id="52" name="Shape 49"/>
          <p:cNvSpPr/>
          <p:nvPr/>
        </p:nvSpPr>
        <p:spPr>
          <a:xfrm>
            <a:off x="8207045" y="4727448"/>
            <a:ext cx="82296" cy="82296"/>
          </a:xfrm>
          <a:prstGeom prst="oval">
            <a:avLst/>
          </a:prstGeom>
          <a:solidFill>
            <a:srgbClr val="E57200"/>
          </a:solidFill>
          <a:ln/>
        </p:spPr>
      </p:sp>
      <p:sp>
        <p:nvSpPr>
          <p:cNvPr id="53" name="Text 50"/>
          <p:cNvSpPr/>
          <p:nvPr/>
        </p:nvSpPr>
        <p:spPr>
          <a:xfrm>
            <a:off x="8362493" y="4577486"/>
            <a:ext cx="3326282" cy="382219"/>
          </a:xfrm>
          <a:prstGeom prst="rect">
            <a:avLst/>
          </a:prstGeom>
          <a:noFill/>
          <a:ln/>
        </p:spPr>
        <p:txBody>
          <a:bodyPr wrap="square" lIns="0" tIns="0" rIns="0" bIns="0" rtlCol="0" anchor="t"/>
          <a:lstStyle/>
          <a:p>
            <a:pPr indent="0" marL="0">
              <a:lnSpc>
                <a:spcPct val="108000"/>
              </a:lnSpc>
              <a:buNone/>
            </a:pPr>
            <a:r>
              <a:rPr lang="en-US" sz="760" b="1" dirty="0">
                <a:solidFill>
                  <a:srgbClr val="232D4B"/>
                </a:solidFill>
                <a:latin typeface="Calibri" pitchFamily="34" charset="0"/>
                <a:ea typeface="Calibri" pitchFamily="34" charset="-122"/>
                <a:cs typeface="Calibri" pitchFamily="34" charset="-120"/>
              </a:rPr>
              <a:t>Multi-party gifts need special accounting.</a:t>
            </a:r>
            <a:endParaRPr lang="en-US" sz="760" dirty="0"/>
          </a:p>
          <a:p>
            <a:pPr indent="0" marL="0">
              <a:lnSpc>
                <a:spcPct val="108000"/>
              </a:lnSpc>
              <a:buNone/>
            </a:pPr>
            <a:r>
              <a:rPr lang="en-US" sz="760" dirty="0">
                <a:solidFill>
                  <a:srgbClr val="5A6472"/>
                </a:solidFill>
                <a:latin typeface="Calibri" pitchFamily="34" charset="0"/>
                <a:ea typeface="Calibri" pitchFamily="34" charset="-122"/>
                <a:cs typeface="Calibri" pitchFamily="34" charset="-120"/>
              </a:rPr>
              <a:t>→ Involve Gift Administration before agreements are finalized.</a:t>
            </a:r>
            <a:endParaRPr lang="en-US" sz="760" dirty="0"/>
          </a:p>
        </p:txBody>
      </p:sp>
      <p:sp>
        <p:nvSpPr>
          <p:cNvPr id="54" name="Shape 51"/>
          <p:cNvSpPr/>
          <p:nvPr/>
        </p:nvSpPr>
        <p:spPr>
          <a:xfrm>
            <a:off x="8124749" y="5051146"/>
            <a:ext cx="3655466" cy="437083"/>
          </a:xfrm>
          <a:prstGeom prst="roundRect">
            <a:avLst>
              <a:gd name="adj" fmla="val 8368"/>
            </a:avLst>
          </a:prstGeom>
          <a:solidFill>
            <a:srgbClr val="F7F7F5"/>
          </a:solidFill>
          <a:ln w="6350">
            <a:solidFill>
              <a:srgbClr val="DADADA"/>
            </a:solidFill>
            <a:prstDash val="solid"/>
          </a:ln>
        </p:spPr>
      </p:sp>
      <p:sp>
        <p:nvSpPr>
          <p:cNvPr id="55" name="Shape 52"/>
          <p:cNvSpPr/>
          <p:nvPr/>
        </p:nvSpPr>
        <p:spPr>
          <a:xfrm>
            <a:off x="8207045" y="5228539"/>
            <a:ext cx="82296" cy="82296"/>
          </a:xfrm>
          <a:prstGeom prst="oval">
            <a:avLst/>
          </a:prstGeom>
          <a:solidFill>
            <a:srgbClr val="E57200"/>
          </a:solidFill>
          <a:ln/>
        </p:spPr>
      </p:sp>
      <p:sp>
        <p:nvSpPr>
          <p:cNvPr id="56" name="Text 53"/>
          <p:cNvSpPr/>
          <p:nvPr/>
        </p:nvSpPr>
        <p:spPr>
          <a:xfrm>
            <a:off x="8362493" y="5078578"/>
            <a:ext cx="3326282" cy="382219"/>
          </a:xfrm>
          <a:prstGeom prst="rect">
            <a:avLst/>
          </a:prstGeom>
          <a:noFill/>
          <a:ln/>
        </p:spPr>
        <p:txBody>
          <a:bodyPr wrap="square" lIns="0" tIns="0" rIns="0" bIns="0" rtlCol="0" anchor="t"/>
          <a:lstStyle/>
          <a:p>
            <a:pPr indent="0" marL="0">
              <a:lnSpc>
                <a:spcPct val="108000"/>
              </a:lnSpc>
              <a:buNone/>
            </a:pPr>
            <a:r>
              <a:rPr lang="en-US" sz="760" b="1" dirty="0">
                <a:solidFill>
                  <a:srgbClr val="232D4B"/>
                </a:solidFill>
                <a:latin typeface="Calibri" pitchFamily="34" charset="0"/>
                <a:ea typeface="Calibri" pitchFamily="34" charset="-122"/>
                <a:cs typeface="Calibri" pitchFamily="34" charset="-120"/>
              </a:rPr>
              <a:t>The 5% Health Dev. fee reduced research funds.</a:t>
            </a:r>
            <a:endParaRPr lang="en-US" sz="760" dirty="0"/>
          </a:p>
          <a:p>
            <a:pPr indent="0" marL="0">
              <a:lnSpc>
                <a:spcPct val="108000"/>
              </a:lnSpc>
              <a:buNone/>
            </a:pPr>
            <a:r>
              <a:rPr lang="en-US" sz="760" dirty="0">
                <a:solidFill>
                  <a:srgbClr val="5A6472"/>
                </a:solidFill>
                <a:latin typeface="Calibri" pitchFamily="34" charset="0"/>
                <a:ea typeface="Calibri" pitchFamily="34" charset="-122"/>
                <a:cs typeface="Calibri" pitchFamily="34" charset="-120"/>
              </a:rPr>
              <a:t>→ Discuss fee treatment early; consider a separate unrestricted gift.</a:t>
            </a:r>
            <a:endParaRPr lang="en-US" sz="760" dirty="0"/>
          </a:p>
        </p:txBody>
      </p:sp>
      <p:sp>
        <p:nvSpPr>
          <p:cNvPr id="57" name="Shape 54"/>
          <p:cNvSpPr/>
          <p:nvPr/>
        </p:nvSpPr>
        <p:spPr>
          <a:xfrm>
            <a:off x="8124749" y="5552237"/>
            <a:ext cx="3655466" cy="437083"/>
          </a:xfrm>
          <a:prstGeom prst="roundRect">
            <a:avLst>
              <a:gd name="adj" fmla="val 8368"/>
            </a:avLst>
          </a:prstGeom>
          <a:solidFill>
            <a:srgbClr val="FFFFFF"/>
          </a:solidFill>
          <a:ln w="6350">
            <a:solidFill>
              <a:srgbClr val="DADADA"/>
            </a:solidFill>
            <a:prstDash val="solid"/>
          </a:ln>
        </p:spPr>
      </p:sp>
      <p:sp>
        <p:nvSpPr>
          <p:cNvPr id="58" name="Shape 55"/>
          <p:cNvSpPr/>
          <p:nvPr/>
        </p:nvSpPr>
        <p:spPr>
          <a:xfrm>
            <a:off x="8207045" y="5729630"/>
            <a:ext cx="82296" cy="82296"/>
          </a:xfrm>
          <a:prstGeom prst="oval">
            <a:avLst/>
          </a:prstGeom>
          <a:solidFill>
            <a:srgbClr val="E57200"/>
          </a:solidFill>
          <a:ln/>
        </p:spPr>
      </p:sp>
      <p:sp>
        <p:nvSpPr>
          <p:cNvPr id="59" name="Text 56"/>
          <p:cNvSpPr/>
          <p:nvPr/>
        </p:nvSpPr>
        <p:spPr>
          <a:xfrm>
            <a:off x="8362493" y="5579669"/>
            <a:ext cx="3326282" cy="382219"/>
          </a:xfrm>
          <a:prstGeom prst="rect">
            <a:avLst/>
          </a:prstGeom>
          <a:noFill/>
          <a:ln/>
        </p:spPr>
        <p:txBody>
          <a:bodyPr wrap="square" lIns="0" tIns="0" rIns="0" bIns="0" rtlCol="0" anchor="t"/>
          <a:lstStyle/>
          <a:p>
            <a:pPr indent="0" marL="0">
              <a:lnSpc>
                <a:spcPct val="108000"/>
              </a:lnSpc>
              <a:buNone/>
            </a:pPr>
            <a:r>
              <a:rPr lang="en-US" sz="760" b="1" dirty="0">
                <a:solidFill>
                  <a:srgbClr val="232D4B"/>
                </a:solidFill>
                <a:latin typeface="Calibri" pitchFamily="34" charset="0"/>
                <a:ea typeface="Calibri" pitchFamily="34" charset="-122"/>
                <a:cs typeface="Calibri" pitchFamily="34" charset="-120"/>
              </a:rPr>
              <a:t>Many offices touched the project.</a:t>
            </a:r>
            <a:endParaRPr lang="en-US" sz="760" dirty="0"/>
          </a:p>
          <a:p>
            <a:pPr indent="0" marL="0">
              <a:lnSpc>
                <a:spcPct val="108000"/>
              </a:lnSpc>
              <a:buNone/>
            </a:pPr>
            <a:r>
              <a:rPr lang="en-US" sz="760" dirty="0">
                <a:solidFill>
                  <a:srgbClr val="5A6472"/>
                </a:solidFill>
                <a:latin typeface="Calibri" pitchFamily="34" charset="0"/>
                <a:ea typeface="Calibri" pitchFamily="34" charset="-122"/>
                <a:cs typeface="Calibri" pitchFamily="34" charset="-120"/>
              </a:rPr>
              <a:t>→ Assign one CFR lead to quarterback the donor experience.</a:t>
            </a:r>
            <a:endParaRPr lang="en-US" sz="760" dirty="0"/>
          </a:p>
        </p:txBody>
      </p:sp>
      <p:sp>
        <p:nvSpPr>
          <p:cNvPr id="60" name="Shape 57"/>
          <p:cNvSpPr/>
          <p:nvPr/>
        </p:nvSpPr>
        <p:spPr>
          <a:xfrm>
            <a:off x="0" y="6053328"/>
            <a:ext cx="12191695" cy="804672"/>
          </a:xfrm>
          <a:prstGeom prst="rect">
            <a:avLst/>
          </a:prstGeom>
          <a:solidFill>
            <a:srgbClr val="232D4B"/>
          </a:solidFill>
          <a:ln/>
        </p:spPr>
      </p:sp>
      <p:sp>
        <p:nvSpPr>
          <p:cNvPr id="61" name="Text 58"/>
          <p:cNvSpPr/>
          <p:nvPr/>
        </p:nvSpPr>
        <p:spPr>
          <a:xfrm>
            <a:off x="411480" y="6126480"/>
            <a:ext cx="11384280" cy="658368"/>
          </a:xfrm>
          <a:prstGeom prst="rect">
            <a:avLst/>
          </a:prstGeom>
          <a:noFill/>
          <a:ln/>
        </p:spPr>
        <p:txBody>
          <a:bodyPr wrap="square" lIns="0" tIns="0" rIns="0" bIns="0" rtlCol="0" anchor="t"/>
          <a:lstStyle/>
          <a:p>
            <a:pPr indent="0" marL="0">
              <a:lnSpc>
                <a:spcPct val="115000"/>
              </a:lnSpc>
              <a:buNone/>
            </a:pPr>
            <a:r>
              <a:rPr lang="en-US" sz="1050" b="1" dirty="0">
                <a:solidFill>
                  <a:srgbClr val="E57200"/>
                </a:solidFill>
                <a:latin typeface="Cambria" pitchFamily="34" charset="0"/>
                <a:ea typeface="Cambria" pitchFamily="34" charset="-122"/>
                <a:cs typeface="Cambria" pitchFamily="34" charset="-120"/>
              </a:rPr>
              <a:t>Guiding Principle:  </a:t>
            </a:r>
            <a:pPr indent="0" marL="0">
              <a:lnSpc>
                <a:spcPct val="115000"/>
              </a:lnSpc>
              <a:buNone/>
            </a:pPr>
            <a:r>
              <a:rPr lang="en-US" sz="1050" i="1" dirty="0">
                <a:solidFill>
                  <a:srgbClr val="FFFFFF"/>
                </a:solidFill>
                <a:latin typeface="Cambria" pitchFamily="34" charset="0"/>
                <a:ea typeface="Cambria" pitchFamily="34" charset="-122"/>
                <a:cs typeface="Cambria" pitchFamily="34" charset="-120"/>
              </a:rPr>
              <a:t>Every complex industry gift should leave the University with a stronger process than it had before. Our role is to align institutional partners, translate complexity for donors, protect the University's interests, and create an experience that makes industry partners want to work with UVA again.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2026-08-04T16:42:31Z</dcterms:created>
  <dcterms:modified xsi:type="dcterms:W3CDTF">2026-08-04T16:42:31Z</dcterms:modified>
</cp:coreProperties>
</file>